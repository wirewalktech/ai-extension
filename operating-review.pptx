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lockup.png"/>
          <p:cNvPicPr>
            <a:picLocks noChangeAspect="1"/>
          </p:cNvPicPr>
          <p:nvPr/>
        </p:nvPicPr>
        <p:blipFill>
          <a:blip r:embed="rId2"/>
          <a:stretch>
            <a:fillRect/>
          </a:stretch>
        </p:blipFill>
        <p:spPr>
          <a:xfrm>
            <a:off x="777240" y="685800"/>
            <a:ext cx="2270386" cy="420624"/>
          </a:xfrm>
          <a:prstGeom prst="rect">
            <a:avLst/>
          </a:prstGeom>
        </p:spPr>
      </p:pic>
      <p:sp>
        <p:nvSpPr>
          <p:cNvPr id="3" name="Rectangle 2"/>
          <p:cNvSpPr/>
          <p:nvPr/>
        </p:nvSpPr>
        <p:spPr>
          <a:xfrm>
            <a:off x="822960" y="1965960"/>
            <a:ext cx="137160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40280"/>
            <a:ext cx="10424160" cy="2103120"/>
          </a:xfrm>
          <a:prstGeom prst="rect">
            <a:avLst/>
          </a:prstGeom>
          <a:noFill/>
        </p:spPr>
        <p:txBody>
          <a:bodyPr wrap="square">
            <a:spAutoFit/>
          </a:bodyPr>
          <a:lstStyle/>
          <a:p>
            <a:r>
              <a:rPr sz="3800" b="1">
                <a:solidFill>
                  <a:srgbClr val="1F1E1D"/>
                </a:solidFill>
              </a:rPr>
              <a:t>Revenue optimization, risk detection and AI adoption across the whole operation.</a:t>
            </a:r>
          </a:p>
          <a:p>
            <a:pPr>
              <a:spcBef>
                <a:spcPts val="2000"/>
              </a:spcBef>
            </a:pPr>
            <a:r>
              <a:rPr sz="1450">
                <a:solidFill>
                  <a:srgbClr val="5C5A54"/>
                </a:solidFill>
              </a:rPr>
              <a:t>Most reviews look closely at one department and estimate the rest. We read the whole operating system — finance, revenue, receivables, payables, contracts, people and IT — because that is where the money quietly goes: an agreement that renews itself on terms nobody revisits, a queue that belongs to no one, an account that stopped being reconciled three years ago and was never missed. And because the same reading tells you where AI would genuinely help, and where it would only add cost. The obvious problems already have owners. We are here for the expensive ones that do not.</a:t>
            </a:r>
          </a:p>
        </p:txBody>
      </p:sp>
      <p:sp>
        <p:nvSpPr>
          <p:cNvPr id="5" name="TextBox 4"/>
          <p:cNvSpPr txBox="1"/>
          <p:nvPr/>
        </p:nvSpPr>
        <p:spPr>
          <a:xfrm>
            <a:off x="777240" y="5897880"/>
            <a:ext cx="10424160" cy="457200"/>
          </a:xfrm>
          <a:prstGeom prst="rect">
            <a:avLst/>
          </a:prstGeom>
          <a:noFill/>
        </p:spPr>
        <p:txBody>
          <a:bodyPr wrap="square">
            <a:spAutoFit/>
          </a:bodyPr>
          <a:lstStyle/>
          <a:p>
            <a:r>
              <a:rPr sz="1150" b="1">
                <a:solidFill>
                  <a:srgbClr val="D97757"/>
                </a:solidFill>
              </a:rPr>
              <a:t>The Operating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You have probably said one of these out loud.</a:t>
            </a:r>
          </a:p>
        </p:txBody>
      </p:sp>
      <p:sp>
        <p:nvSpPr>
          <p:cNvPr id="5" name="TextBox 4"/>
          <p:cNvSpPr txBox="1"/>
          <p:nvPr/>
        </p:nvSpPr>
        <p:spPr>
          <a:xfrm>
            <a:off x="640080" y="1719072"/>
            <a:ext cx="10607040" cy="868680"/>
          </a:xfrm>
          <a:prstGeom prst="rect">
            <a:avLst/>
          </a:prstGeom>
          <a:noFill/>
        </p:spPr>
        <p:txBody>
          <a:bodyPr wrap="square">
            <a:spAutoFit/>
          </a:bodyPr>
          <a:lstStyle/>
          <a:p>
            <a:r>
              <a:rPr sz="1300">
                <a:solidFill>
                  <a:srgbClr val="5C5A54"/>
                </a:solidFill>
              </a:rPr>
              <a:t>Every operation loses money in three ways at once, and most reviews are commissioned to look at one of them. What each one is called and where it hides changes by sector, which is why there is a page for your industry rather than one page asking you to translate.</a:t>
            </a:r>
          </a:p>
        </p:txBody>
      </p:sp>
      <p:sp>
        <p:nvSpPr>
          <p:cNvPr id="6" name="TextBox 5"/>
          <p:cNvSpPr txBox="1"/>
          <p:nvPr/>
        </p:nvSpPr>
        <p:spPr>
          <a:xfrm>
            <a:off x="640080" y="2606040"/>
            <a:ext cx="3261360" cy="3749039"/>
          </a:xfrm>
          <a:prstGeom prst="rect">
            <a:avLst/>
          </a:prstGeom>
          <a:noFill/>
        </p:spPr>
        <p:txBody>
          <a:bodyPr wrap="square">
            <a:spAutoFit/>
          </a:bodyPr>
          <a:lstStyle/>
          <a:p>
            <a:r>
              <a:rPr sz="1050" b="1">
                <a:solidFill>
                  <a:srgbClr val="D97757"/>
                </a:solidFill>
              </a:rPr>
              <a:t>“REVENUE IS UP. SOMEHOW THE CASH ISN’T.”</a:t>
            </a:r>
          </a:p>
          <a:p>
            <a:pPr>
              <a:spcBef>
                <a:spcPts val="700"/>
              </a:spcBef>
            </a:pPr>
            <a:r>
              <a:rPr sz="1150">
                <a:solidFill>
                  <a:srgbClr val="1F1E1D"/>
                </a:solidFill>
              </a:rPr>
              <a:t>— Billing, collection, AR/AP and write-offs</a:t>
            </a:r>
          </a:p>
          <a:p>
            <a:pPr>
              <a:spcBef>
                <a:spcPts val="700"/>
              </a:spcBef>
            </a:pPr>
            <a:r>
              <a:rPr sz="1150">
                <a:solidFill>
                  <a:srgbClr val="1F1E1D"/>
                </a:solidFill>
              </a:rPr>
              <a:t>— Vendor overpayment and duplicate services</a:t>
            </a:r>
          </a:p>
          <a:p>
            <a:pPr>
              <a:spcBef>
                <a:spcPts val="700"/>
              </a:spcBef>
            </a:pPr>
            <a:r>
              <a:rPr sz="1150">
                <a:solidFill>
                  <a:srgbClr val="1F1E1D"/>
                </a:solidFill>
              </a:rPr>
              <a:t>— Contract terms nobody enforces</a:t>
            </a:r>
          </a:p>
          <a:p>
            <a:pPr>
              <a:spcBef>
                <a:spcPts val="700"/>
              </a:spcBef>
            </a:pPr>
            <a:r>
              <a:rPr sz="1150">
                <a:solidFill>
                  <a:srgbClr val="1F1E1D"/>
                </a:solidFill>
              </a:rPr>
              <a:t>— Rates and discounts never trued up</a:t>
            </a:r>
          </a:p>
          <a:p>
            <a:pPr>
              <a:spcBef>
                <a:spcPts val="700"/>
              </a:spcBef>
            </a:pPr>
            <a:r>
              <a:rPr sz="1150">
                <a:solidFill>
                  <a:srgbClr val="1F1E1D"/>
                </a:solidFill>
              </a:rPr>
              <a:t>— RECOVERABLE — Cash you go and get back. Usually the first thing to move, and it is what pays for the review.</a:t>
            </a:r>
          </a:p>
        </p:txBody>
      </p:sp>
      <p:sp>
        <p:nvSpPr>
          <p:cNvPr id="7" name="TextBox 6"/>
          <p:cNvSpPr txBox="1"/>
          <p:nvPr/>
        </p:nvSpPr>
        <p:spPr>
          <a:xfrm>
            <a:off x="4267200" y="2606040"/>
            <a:ext cx="3261360" cy="3749039"/>
          </a:xfrm>
          <a:prstGeom prst="rect">
            <a:avLst/>
          </a:prstGeom>
          <a:noFill/>
        </p:spPr>
        <p:txBody>
          <a:bodyPr wrap="square">
            <a:spAutoFit/>
          </a:bodyPr>
          <a:lstStyle/>
          <a:p>
            <a:r>
              <a:rPr sz="1050" b="1">
                <a:solidFill>
                  <a:srgbClr val="D97757"/>
                </a:solidFill>
              </a:rPr>
              <a:t>“WE ARE BUSIER THAN EVER AND IT ISN’T REACHING THE BOTTOM LINE.”</a:t>
            </a:r>
          </a:p>
          <a:p>
            <a:pPr>
              <a:spcBef>
                <a:spcPts val="700"/>
              </a:spcBef>
            </a:pPr>
            <a:r>
              <a:rPr sz="1150">
                <a:solidFill>
                  <a:srgbClr val="1F1E1D"/>
                </a:solidFill>
              </a:rPr>
              <a:t>— Reconciliation, rekeying and approval queues</a:t>
            </a:r>
          </a:p>
          <a:p>
            <a:pPr>
              <a:spcBef>
                <a:spcPts val="700"/>
              </a:spcBef>
            </a:pPr>
            <a:r>
              <a:rPr sz="1150">
                <a:solidFill>
                  <a:srgbClr val="1F1E1D"/>
                </a:solidFill>
              </a:rPr>
              <a:t>— Rework loops, and what causes them upstream</a:t>
            </a:r>
          </a:p>
          <a:p>
            <a:pPr>
              <a:spcBef>
                <a:spcPts val="700"/>
              </a:spcBef>
            </a:pPr>
            <a:r>
              <a:rPr sz="1150">
                <a:solidFill>
                  <a:srgbClr val="1F1E1D"/>
                </a:solidFill>
              </a:rPr>
              <a:t>— Time from hire to productive, and what it waits on</a:t>
            </a:r>
          </a:p>
          <a:p>
            <a:pPr>
              <a:spcBef>
                <a:spcPts val="700"/>
              </a:spcBef>
            </a:pPr>
            <a:r>
              <a:rPr sz="1150">
                <a:solidFill>
                  <a:srgbClr val="1F1E1D"/>
                </a:solidFill>
              </a:rPr>
              <a:t>— Handoffs between sales, delivery and finance</a:t>
            </a:r>
          </a:p>
          <a:p>
            <a:pPr>
              <a:spcBef>
                <a:spcPts val="700"/>
              </a:spcBef>
            </a:pPr>
            <a:r>
              <a:rPr sz="1150">
                <a:solidFill>
                  <a:srgbClr val="1F1E1D"/>
                </a:solidFill>
              </a:rPr>
              <a:t>— REPEATING — Capacity you stop buying, or start selling. Moves the run rate rather than the quarter.</a:t>
            </a:r>
          </a:p>
        </p:txBody>
      </p:sp>
      <p:sp>
        <p:nvSpPr>
          <p:cNvPr id="8" name="TextBox 7"/>
          <p:cNvSpPr txBox="1"/>
          <p:nvPr/>
        </p:nvSpPr>
        <p:spPr>
          <a:xfrm>
            <a:off x="7894320" y="2606040"/>
            <a:ext cx="3261360" cy="3749039"/>
          </a:xfrm>
          <a:prstGeom prst="rect">
            <a:avLst/>
          </a:prstGeom>
          <a:noFill/>
        </p:spPr>
        <p:txBody>
          <a:bodyPr wrap="square">
            <a:spAutoFit/>
          </a:bodyPr>
          <a:lstStyle/>
          <a:p>
            <a:r>
              <a:rPr sz="1050" b="1">
                <a:solidFill>
                  <a:srgbClr val="D97757"/>
                </a:solidFill>
              </a:rPr>
              <a:t>“THE AUDIT FOUND SOMETHING NOBODY KNEW WAS THERE.”</a:t>
            </a:r>
          </a:p>
          <a:p>
            <a:pPr>
              <a:spcBef>
                <a:spcPts val="700"/>
              </a:spcBef>
            </a:pPr>
            <a:r>
              <a:rPr sz="1150">
                <a:solidFill>
                  <a:srgbClr val="1F1E1D"/>
                </a:solidFill>
              </a:rPr>
              <a:t>— Compliance and regulatory stance</a:t>
            </a:r>
          </a:p>
          <a:p>
            <a:pPr>
              <a:spcBef>
                <a:spcPts val="700"/>
              </a:spcBef>
            </a:pPr>
            <a:r>
              <a:rPr sz="1150">
                <a:solidFill>
                  <a:srgbClr val="1F1E1D"/>
                </a:solidFill>
              </a:rPr>
              <a:t>— Legal and contractual exposure</a:t>
            </a:r>
          </a:p>
          <a:p>
            <a:pPr>
              <a:spcBef>
                <a:spcPts val="700"/>
              </a:spcBef>
            </a:pPr>
            <a:r>
              <a:rPr sz="1150">
                <a:solidFill>
                  <a:srgbClr val="1F1E1D"/>
                </a:solidFill>
              </a:rPr>
              <a:t>— Unmanaged AI or data sharing</a:t>
            </a:r>
          </a:p>
          <a:p>
            <a:pPr>
              <a:spcBef>
                <a:spcPts val="700"/>
              </a:spcBef>
            </a:pPr>
            <a:r>
              <a:rPr sz="1150">
                <a:solidFill>
                  <a:srgbClr val="1F1E1D"/>
                </a:solidFill>
              </a:rPr>
              <a:t>— Key-person and uninsured liability</a:t>
            </a:r>
          </a:p>
          <a:p>
            <a:pPr>
              <a:spcBef>
                <a:spcPts val="700"/>
              </a:spcBef>
            </a:pPr>
            <a:r>
              <a:rPr sz="1150">
                <a:solidFill>
                  <a:srgbClr val="1F1E1D"/>
                </a:solidFill>
              </a:rPr>
              <a:t>— CONTINGENT — Loss you avoid. Worth nothing until the day it is worth everything.</a:t>
            </a:r>
          </a:p>
          <a:p>
            <a:pPr>
              <a:spcBef>
                <a:spcPts val="700"/>
              </a:spcBef>
            </a:pPr>
            <a:r>
              <a:rPr sz="1150">
                <a:solidFill>
                  <a:srgbClr val="1F1E1D"/>
                </a:solidFill>
              </a:rPr>
              <a:t>— What the review finds is what the review finds. Nothing above is a result we are claiming; it is where we look. We write down what we expect to find before fieldwork , so afterwards you can check us against it rather than take our word for what was always going to be in there.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You see everything first. Nothing moves without you.</a:t>
            </a:r>
          </a:p>
        </p:txBody>
      </p:sp>
      <p:sp>
        <p:nvSpPr>
          <p:cNvPr id="5" name="TextBox 4"/>
          <p:cNvSpPr txBox="1"/>
          <p:nvPr/>
        </p:nvSpPr>
        <p:spPr>
          <a:xfrm>
            <a:off x="640080" y="1719072"/>
            <a:ext cx="10607040" cy="868680"/>
          </a:xfrm>
          <a:prstGeom prst="rect">
            <a:avLst/>
          </a:prstGeom>
          <a:noFill/>
        </p:spPr>
        <p:txBody>
          <a:bodyPr wrap="square">
            <a:spAutoFit/>
          </a:bodyPr>
          <a:lstStyle/>
          <a:p>
            <a:r>
              <a:rPr sz="1300">
                <a:solidFill>
                  <a:srgbClr val="5C5A54"/>
                </a:solidFill>
              </a:rPr>
              <a:t>A proper look at how an operation really runs will turn things up — that is what you are paying for, and it is also why commissioning one takes a little nerve. Whatever we find concerns people you hired, trusted, and in some cases have known for twenty years. So here is exactly what happens to it, because you should know that before you decide rather than after.</a:t>
            </a:r>
          </a:p>
        </p:txBody>
      </p:sp>
      <p:sp>
        <p:nvSpPr>
          <p:cNvPr id="6" name="TextBox 5"/>
          <p:cNvSpPr txBox="1"/>
          <p:nvPr/>
        </p:nvSpPr>
        <p:spPr>
          <a:xfrm>
            <a:off x="640080" y="2606040"/>
            <a:ext cx="3261360" cy="3749039"/>
          </a:xfrm>
          <a:prstGeom prst="rect">
            <a:avLst/>
          </a:prstGeom>
          <a:noFill/>
        </p:spPr>
        <p:txBody>
          <a:bodyPr wrap="square">
            <a:spAutoFit/>
          </a:bodyPr>
          <a:lstStyle/>
          <a:p>
            <a:r>
              <a:rPr sz="1050" b="1">
                <a:solidFill>
                  <a:srgbClr val="D97757"/>
                </a:solidFill>
              </a:rPr>
              <a:t>IT COMES TO YOU, AND STOPS THERE</a:t>
            </a:r>
          </a:p>
          <a:p>
            <a:pPr>
              <a:spcBef>
                <a:spcPts val="700"/>
              </a:spcBef>
            </a:pPr>
            <a:r>
              <a:rPr sz="1150">
                <a:solidFill>
                  <a:srgbClr val="1F1E1D"/>
                </a:solidFill>
              </a:rPr>
              <a:t>— Findings go to you and to nobody else. You decide what circulates, to whom, and when. Nothing arrives in a board pack, a department head’s inbox or anybody’s personnel file because we put it there.</a:t>
            </a:r>
          </a:p>
        </p:txBody>
      </p:sp>
      <p:sp>
        <p:nvSpPr>
          <p:cNvPr id="7" name="TextBox 6"/>
          <p:cNvSpPr txBox="1"/>
          <p:nvPr/>
        </p:nvSpPr>
        <p:spPr>
          <a:xfrm>
            <a:off x="4267200" y="2606040"/>
            <a:ext cx="3261360" cy="3749039"/>
          </a:xfrm>
          <a:prstGeom prst="rect">
            <a:avLst/>
          </a:prstGeom>
          <a:noFill/>
        </p:spPr>
        <p:txBody>
          <a:bodyPr wrap="square">
            <a:spAutoFit/>
          </a:bodyPr>
          <a:lstStyle/>
          <a:p>
            <a:r>
              <a:rPr sz="1050" b="1">
                <a:solidFill>
                  <a:srgbClr val="D97757"/>
                </a:solidFill>
              </a:rPr>
              <a:t>ALMOST NONE OF IT IS ANYONE’S FAULT</a:t>
            </a:r>
          </a:p>
          <a:p>
            <a:pPr>
              <a:spcBef>
                <a:spcPts val="700"/>
              </a:spcBef>
            </a:pPr>
            <a:r>
              <a:rPr sz="1150">
                <a:solidFill>
                  <a:srgbClr val="1F1E1D"/>
                </a:solidFill>
              </a:rPr>
              <a:t>— Standard costs drift. Contracts outlive the person who negotiated them. Nobody decided to stop enforcing that clause — the person who used to watch it left in 2021 and it was in nobody’s job description after that. Concentrated loss is what busy, well-run operations produce. Looking for it is not an accusation.</a:t>
            </a:r>
          </a:p>
        </p:txBody>
      </p:sp>
      <p:sp>
        <p:nvSpPr>
          <p:cNvPr id="8" name="TextBox 7"/>
          <p:cNvSpPr txBox="1"/>
          <p:nvPr/>
        </p:nvSpPr>
        <p:spPr>
          <a:xfrm>
            <a:off x="7894320" y="2606040"/>
            <a:ext cx="3261360" cy="3749039"/>
          </a:xfrm>
          <a:prstGeom prst="rect">
            <a:avLst/>
          </a:prstGeom>
          <a:noFill/>
        </p:spPr>
        <p:txBody>
          <a:bodyPr wrap="square">
            <a:spAutoFit/>
          </a:bodyPr>
          <a:lstStyle/>
          <a:p>
            <a:r>
              <a:rPr sz="1050" b="1">
                <a:solidFill>
                  <a:srgbClr val="D97757"/>
                </a:solidFill>
              </a:rPr>
              <a:t>ANYTHING UNCOMFORTABLE IS A CONVERSATION FIRST</a:t>
            </a:r>
          </a:p>
          <a:p>
            <a:pPr>
              <a:spcBef>
                <a:spcPts val="700"/>
              </a:spcBef>
            </a:pPr>
            <a:r>
              <a:rPr sz="1150">
                <a:solidFill>
                  <a:srgbClr val="1F1E1D"/>
                </a:solidFill>
              </a:rPr>
              <a:t>— If something turns up that is not drift, you hear it from us spoken, early and in private — before it is written down anywhere. What happens next is your call, on your timing, with your own counsel. We will not have pre-empted it in a document you had not read yet.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You see everything first. Nothing moves without you. (cont.)</a:t>
            </a:r>
          </a:p>
        </p:txBody>
      </p:sp>
      <p:sp>
        <p:nvSpPr>
          <p:cNvPr id="5" name="TextBox 4"/>
          <p:cNvSpPr txBox="1"/>
          <p:nvPr/>
        </p:nvSpPr>
        <p:spPr>
          <a:xfrm>
            <a:off x="640080" y="1783080"/>
            <a:ext cx="10607040" cy="4206240"/>
          </a:xfrm>
          <a:prstGeom prst="rect">
            <a:avLst/>
          </a:prstGeom>
          <a:noFill/>
        </p:spPr>
        <p:txBody>
          <a:bodyPr wrap="square">
            <a:spAutoFit/>
          </a:bodyPr>
          <a:lstStyle/>
          <a:p>
            <a:r>
              <a:rPr sz="1050" b="1">
                <a:solidFill>
                  <a:srgbClr val="D97757"/>
                </a:solidFill>
              </a:rPr>
              <a:t>WE READ SYSTEMS, NOT PEOPLE</a:t>
            </a:r>
          </a:p>
          <a:p>
            <a:pPr>
              <a:spcBef>
                <a:spcPts val="800"/>
              </a:spcBef>
            </a:pPr>
            <a:r>
              <a:rPr sz="1200">
                <a:solidFill>
                  <a:srgbClr val="1F1E1D"/>
                </a:solidFill>
              </a:rPr>
              <a:t>— An operating review is not a forensic investigation, and we do not quietly run one inside the other. We establish where the money goes, not who to blame for it. If a finding points somewhere that needs different expertise and different rules, we say so and stop rather than press on.</a:t>
            </a:r>
          </a:p>
          <a:p>
            <a:pPr>
              <a:spcBef>
                <a:spcPts val="800"/>
              </a:spcBef>
            </a:pPr>
            <a:r>
              <a:rPr sz="1200">
                <a:solidFill>
                  <a:srgbClr val="1F1E1D"/>
                </a:solidFill>
              </a:rPr>
              <a:t>— The examination happens either way. A buyer’s diligence team, a lender at renewal, a regulator, an insurer after a claim, a departing partner’s counsel — each of those reads your operation eventually, on their timetable, in front of their audience, with you having no say over what happens next. This is the version where you go first, in private, and you decide.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We review the operating system, not one department.</a:t>
            </a:r>
          </a:p>
        </p:txBody>
      </p:sp>
      <p:sp>
        <p:nvSpPr>
          <p:cNvPr id="5" name="TextBox 4"/>
          <p:cNvSpPr txBox="1"/>
          <p:nvPr/>
        </p:nvSpPr>
        <p:spPr>
          <a:xfrm>
            <a:off x="640080" y="1719072"/>
            <a:ext cx="10607040" cy="868680"/>
          </a:xfrm>
          <a:prstGeom prst="rect">
            <a:avLst/>
          </a:prstGeom>
          <a:noFill/>
        </p:spPr>
        <p:txBody>
          <a:bodyPr wrap="square">
            <a:spAutoFit/>
          </a:bodyPr>
          <a:lstStyle/>
          <a:p>
            <a:r>
              <a:rPr sz="1300">
                <a:solidFill>
                  <a:srgbClr val="5C5A54"/>
                </a:solidFill>
              </a:rPr>
              <a:t>Full operating coverage replaces narrow extrapolation. That is how prior engagements surfaced issues a finance-only or compliance-only review would miss. Loss concentrates; it does not distribute. A sample is the wrong instrument for finding something that happens once.</a:t>
            </a:r>
          </a:p>
        </p:txBody>
      </p:sp>
      <p:sp>
        <p:nvSpPr>
          <p:cNvPr id="6" name="TextBox 5"/>
          <p:cNvSpPr txBox="1"/>
          <p:nvPr/>
        </p:nvSpPr>
        <p:spPr>
          <a:xfrm>
            <a:off x="640080" y="2606040"/>
            <a:ext cx="5074920" cy="3749039"/>
          </a:xfrm>
          <a:prstGeom prst="rect">
            <a:avLst/>
          </a:prstGeom>
          <a:noFill/>
        </p:spPr>
        <p:txBody>
          <a:bodyPr wrap="square">
            <a:spAutoFit/>
          </a:bodyPr>
          <a:lstStyle/>
          <a:p>
            <a:r>
              <a:rPr sz="1050" b="1">
                <a:solidFill>
                  <a:srgbClr val="D97757"/>
                </a:solidFill>
              </a:rPr>
              <a:t>CONVENTIONAL</a:t>
            </a:r>
          </a:p>
          <a:p>
            <a:pPr>
              <a:spcBef>
                <a:spcPts val="700"/>
              </a:spcBef>
            </a:pPr>
            <a:r>
              <a:rPr sz="1150">
                <a:solidFill>
                  <a:srgbClr val="1F1E1D"/>
                </a:solidFill>
              </a:rPr>
              <a:t>— Samples thirty transactions</a:t>
            </a:r>
          </a:p>
          <a:p>
            <a:pPr>
              <a:spcBef>
                <a:spcPts val="700"/>
              </a:spcBef>
            </a:pPr>
            <a:r>
              <a:rPr sz="1150">
                <a:solidFill>
                  <a:srgbClr val="1F1E1D"/>
                </a:solidFill>
              </a:rPr>
              <a:t>— Interviews eight people</a:t>
            </a:r>
          </a:p>
          <a:p>
            <a:pPr>
              <a:spcBef>
                <a:spcPts val="700"/>
              </a:spcBef>
            </a:pPr>
            <a:r>
              <a:rPr sz="1150">
                <a:solidFill>
                  <a:srgbClr val="1F1E1D"/>
                </a:solidFill>
              </a:rPr>
              <a:t>— Reviews one quarter</a:t>
            </a:r>
          </a:p>
          <a:p>
            <a:pPr>
              <a:spcBef>
                <a:spcPts val="700"/>
              </a:spcBef>
            </a:pPr>
            <a:r>
              <a:rPr sz="1150">
                <a:solidFill>
                  <a:srgbClr val="1F1E1D"/>
                </a:solidFill>
              </a:rPr>
              <a:t>— Extrapolates the rest</a:t>
            </a:r>
          </a:p>
        </p:txBody>
      </p:sp>
      <p:sp>
        <p:nvSpPr>
          <p:cNvPr id="7" name="TextBox 6"/>
          <p:cNvSpPr txBox="1"/>
          <p:nvPr/>
        </p:nvSpPr>
        <p:spPr>
          <a:xfrm>
            <a:off x="6080760" y="2606040"/>
            <a:ext cx="5074920" cy="3749039"/>
          </a:xfrm>
          <a:prstGeom prst="rect">
            <a:avLst/>
          </a:prstGeom>
          <a:noFill/>
        </p:spPr>
        <p:txBody>
          <a:bodyPr wrap="square">
            <a:spAutoFit/>
          </a:bodyPr>
          <a:lstStyle/>
          <a:p>
            <a:r>
              <a:rPr sz="1050" b="1">
                <a:solidFill>
                  <a:srgbClr val="D97757"/>
                </a:solidFill>
              </a:rPr>
              <a:t>OUR APPROACH</a:t>
            </a:r>
          </a:p>
          <a:p>
            <a:pPr>
              <a:spcBef>
                <a:spcPts val="700"/>
              </a:spcBef>
            </a:pPr>
            <a:r>
              <a:rPr sz="1150">
                <a:solidFill>
                  <a:srgbClr val="1F1E1D"/>
                </a:solidFill>
              </a:rPr>
              <a:t>— Billing, collection and finance operations</a:t>
            </a:r>
          </a:p>
          <a:p>
            <a:pPr>
              <a:spcBef>
                <a:spcPts val="700"/>
              </a:spcBef>
            </a:pPr>
            <a:r>
              <a:rPr sz="1150">
                <a:solidFill>
                  <a:srgbClr val="1F1E1D"/>
                </a:solidFill>
              </a:rPr>
              <a:t>— Invoices, vendors and legal contracts</a:t>
            </a:r>
          </a:p>
          <a:p>
            <a:pPr>
              <a:spcBef>
                <a:spcPts val="700"/>
              </a:spcBef>
            </a:pPr>
            <a:r>
              <a:rPr sz="1150">
                <a:solidFill>
                  <a:srgbClr val="1F1E1D"/>
                </a:solidFill>
              </a:rPr>
              <a:t>— IT operations, access and data workflows</a:t>
            </a:r>
          </a:p>
          <a:p>
            <a:pPr>
              <a:spcBef>
                <a:spcPts val="700"/>
              </a:spcBef>
            </a:pPr>
            <a:r>
              <a:rPr sz="1150">
                <a:solidFill>
                  <a:srgbClr val="1F1E1D"/>
                </a:solidFill>
              </a:rPr>
              <a:t>— People, marketing and delivery handoffs</a:t>
            </a:r>
          </a:p>
          <a:p>
            <a:pPr>
              <a:spcBef>
                <a:spcPts val="700"/>
              </a:spcBef>
            </a:pPr>
            <a:r>
              <a:rPr sz="1150">
                <a:solidFill>
                  <a:srgbClr val="1F1E1D"/>
                </a:solidFill>
              </a:rPr>
              <a:t>— That coverage is what you are buying. The engagement that delivers it end to end across a single business unit is The Operating Review, one business unit , at a fixed fee. Multi-site and multi-entity coverage is quoted per engagement, because the number of units and systems drives everything.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Your regulator, your filings, your vocabulary.</a:t>
            </a:r>
          </a:p>
        </p:txBody>
      </p:sp>
      <p:sp>
        <p:nvSpPr>
          <p:cNvPr id="5" name="TextBox 4"/>
          <p:cNvSpPr txBox="1"/>
          <p:nvPr/>
        </p:nvSpPr>
        <p:spPr>
          <a:xfrm>
            <a:off x="640080" y="1719072"/>
            <a:ext cx="10607040" cy="868680"/>
          </a:xfrm>
          <a:prstGeom prst="rect">
            <a:avLst/>
          </a:prstGeom>
          <a:noFill/>
        </p:spPr>
        <p:txBody>
          <a:bodyPr wrap="square">
            <a:spAutoFit/>
          </a:bodyPr>
          <a:lstStyle/>
          <a:p>
            <a:r>
              <a:rPr sz="1300">
                <a:solidFill>
                  <a:srgbClr val="5C5A54"/>
                </a:solidFill>
              </a:rPr>
              <a:t>What a review has to look at is set by your sector, not by us. A law firm has trust account reconciliation and a bar audit. A defence supplier has an SPRS score and an ITAR boundary. A property sponsor has covenant definitions that differ per loan document. None of those appear on anyone else’s list. A page that says “vendor contracts and write-offs” makes you translate — one that says “realisation, WIP ageing and origination credit” does not. So each page is written for one industry and borrows nothing from the others.</a:t>
            </a:r>
          </a:p>
        </p:txBody>
      </p:sp>
      <p:sp>
        <p:nvSpPr>
          <p:cNvPr id="6" name="TextBox 5"/>
          <p:cNvSpPr txBox="1"/>
          <p:nvPr/>
        </p:nvSpPr>
        <p:spPr>
          <a:xfrm>
            <a:off x="640080" y="2606040"/>
            <a:ext cx="3261360" cy="3749039"/>
          </a:xfrm>
          <a:prstGeom prst="rect">
            <a:avLst/>
          </a:prstGeom>
          <a:noFill/>
        </p:spPr>
        <p:txBody>
          <a:bodyPr wrap="square">
            <a:spAutoFit/>
          </a:bodyPr>
          <a:lstStyle/>
          <a:p>
            <a:r>
              <a:rPr sz="1050" b="1">
                <a:solidFill>
                  <a:srgbClr val="D97757"/>
                </a:solidFill>
              </a:rPr>
              <a:t>PROFESSIONAL AND ADVISORY FIRMS</a:t>
            </a:r>
          </a:p>
          <a:p>
            <a:pPr>
              <a:spcBef>
                <a:spcPts val="700"/>
              </a:spcBef>
            </a:pPr>
            <a:r>
              <a:rPr sz="1150">
                <a:solidFill>
                  <a:srgbClr val="1F1E1D"/>
                </a:solidFill>
              </a:rPr>
              <a:t>— Where the product is time, and three different numbers describe the same hour. Law firms · Accountancy firms · Professional services · Agencies and media · Staffing and recruitment · Engineering and architecture</a:t>
            </a:r>
          </a:p>
        </p:txBody>
      </p:sp>
      <p:sp>
        <p:nvSpPr>
          <p:cNvPr id="7" name="TextBox 6"/>
          <p:cNvSpPr txBox="1"/>
          <p:nvPr/>
        </p:nvSpPr>
        <p:spPr>
          <a:xfrm>
            <a:off x="4267200" y="2606040"/>
            <a:ext cx="3261360" cy="3749039"/>
          </a:xfrm>
          <a:prstGeom prst="rect">
            <a:avLst/>
          </a:prstGeom>
          <a:noFill/>
        </p:spPr>
        <p:txBody>
          <a:bodyPr wrap="square">
            <a:spAutoFit/>
          </a:bodyPr>
          <a:lstStyle/>
          <a:p>
            <a:r>
              <a:rPr sz="1050" b="1">
                <a:solidFill>
                  <a:srgbClr val="D97757"/>
                </a:solidFill>
              </a:rPr>
              <a:t>FINANCIAL SERVICES AND INSURANCE</a:t>
            </a:r>
          </a:p>
          <a:p>
            <a:pPr>
              <a:spcBef>
                <a:spcPts val="700"/>
              </a:spcBef>
            </a:pPr>
            <a:r>
              <a:rPr sz="1150">
                <a:solidFill>
                  <a:srgbClr val="1F1E1D"/>
                </a:solidFill>
              </a:rPr>
              <a:t>— Where regulated cost is an operating line, and the operations underneath it are rarely priced. Financial services · Insurance · Real estate finance</a:t>
            </a:r>
          </a:p>
        </p:txBody>
      </p:sp>
      <p:sp>
        <p:nvSpPr>
          <p:cNvPr id="8" name="TextBox 7"/>
          <p:cNvSpPr txBox="1"/>
          <p:nvPr/>
        </p:nvSpPr>
        <p:spPr>
          <a:xfrm>
            <a:off x="7894320" y="2606040"/>
            <a:ext cx="3261360" cy="3749039"/>
          </a:xfrm>
          <a:prstGeom prst="rect">
            <a:avLst/>
          </a:prstGeom>
          <a:noFill/>
        </p:spPr>
        <p:txBody>
          <a:bodyPr wrap="square">
            <a:spAutoFit/>
          </a:bodyPr>
          <a:lstStyle/>
          <a:p>
            <a:r>
              <a:rPr sz="1050" b="1">
                <a:solidFill>
                  <a:srgbClr val="D97757"/>
                </a:solidFill>
              </a:rPr>
              <a:t>MAKING, MOVING AND BUILDING</a:t>
            </a:r>
          </a:p>
          <a:p>
            <a:pPr>
              <a:spcBef>
                <a:spcPts val="700"/>
              </a:spcBef>
            </a:pPr>
            <a:r>
              <a:rPr sz="1150">
                <a:solidFill>
                  <a:srgbClr val="1F1E1D"/>
                </a:solidFill>
              </a:rPr>
              <a:t>— Where margin is calculated from standards, and the standards drift. Manufacturing · Aerospace and defence · Warehousing and logistics · Transport and fleet · Construction and contracting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Your regulator, your filings, your vocabulary. (cont.)</a:t>
            </a:r>
          </a:p>
        </p:txBody>
      </p:sp>
      <p:sp>
        <p:nvSpPr>
          <p:cNvPr id="5" name="TextBox 4"/>
          <p:cNvSpPr txBox="1"/>
          <p:nvPr/>
        </p:nvSpPr>
        <p:spPr>
          <a:xfrm>
            <a:off x="640080" y="1783080"/>
            <a:ext cx="10607040" cy="4206240"/>
          </a:xfrm>
          <a:prstGeom prst="rect">
            <a:avLst/>
          </a:prstGeom>
          <a:noFill/>
        </p:spPr>
        <p:txBody>
          <a:bodyPr wrap="square">
            <a:spAutoFit/>
          </a:bodyPr>
          <a:lstStyle/>
          <a:p>
            <a:r>
              <a:rPr sz="1050" b="1">
                <a:solidFill>
                  <a:srgbClr val="D97757"/>
                </a:solidFill>
              </a:rPr>
              <a:t>PROPERTY, ENERGY AND INFRASTRUCTURE</a:t>
            </a:r>
          </a:p>
          <a:p>
            <a:pPr>
              <a:spcBef>
                <a:spcPts val="800"/>
              </a:spcBef>
            </a:pPr>
            <a:r>
              <a:rPr sz="1200">
                <a:solidFill>
                  <a:srgbClr val="1F1E1D"/>
                </a:solidFill>
              </a:rPr>
              <a:t>— Where the asset is the business, and what is contracted is not what is collected. Real estate · Energy and utilities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Your regulator, your filings, your vocabulary. (cont.)</a:t>
            </a:r>
          </a:p>
        </p:txBody>
      </p:sp>
      <p:sp>
        <p:nvSpPr>
          <p:cNvPr id="5" name="TextBox 4"/>
          <p:cNvSpPr txBox="1"/>
          <p:nvPr/>
        </p:nvSpPr>
        <p:spPr>
          <a:xfrm>
            <a:off x="640080" y="1783080"/>
            <a:ext cx="10607040" cy="4206240"/>
          </a:xfrm>
          <a:prstGeom prst="rect">
            <a:avLst/>
          </a:prstGeom>
          <a:noFill/>
        </p:spPr>
        <p:txBody>
          <a:bodyPr wrap="square">
            <a:spAutoFit/>
          </a:bodyPr>
          <a:lstStyle/>
          <a:p>
            <a:r>
              <a:rPr sz="1050" b="1">
                <a:solidFill>
                  <a:srgbClr val="D97757"/>
                </a:solidFill>
              </a:rPr>
              <a:t>SELLING AND SERVING</a:t>
            </a:r>
          </a:p>
          <a:p>
            <a:pPr>
              <a:spcBef>
                <a:spcPts val="800"/>
              </a:spcBef>
            </a:pPr>
            <a:r>
              <a:rPr sz="1200">
                <a:solidFill>
                  <a:srgbClr val="1F1E1D"/>
                </a:solidFill>
              </a:rPr>
              <a:t>— Where volume hides the unit, and the unit is where the loss is. Retail and e-commerce · Hospitality and food service · Technology and SaaS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Your regulator, your filings, your vocabulary. (cont.)</a:t>
            </a:r>
          </a:p>
        </p:txBody>
      </p:sp>
      <p:sp>
        <p:nvSpPr>
          <p:cNvPr id="5" name="TextBox 4"/>
          <p:cNvSpPr txBox="1"/>
          <p:nvPr/>
        </p:nvSpPr>
        <p:spPr>
          <a:xfrm>
            <a:off x="640080" y="1783080"/>
            <a:ext cx="10607040" cy="4206240"/>
          </a:xfrm>
          <a:prstGeom prst="rect">
            <a:avLst/>
          </a:prstGeom>
          <a:noFill/>
        </p:spPr>
        <p:txBody>
          <a:bodyPr wrap="square">
            <a:spAutoFit/>
          </a:bodyPr>
          <a:lstStyle/>
          <a:p>
            <a:r>
              <a:rPr sz="1050" b="1">
                <a:solidFill>
                  <a:srgbClr val="D97757"/>
                </a:solidFill>
              </a:rPr>
              <a:t>PUBLIC, FUNDED AND REGULATED</a:t>
            </a:r>
          </a:p>
          <a:p>
            <a:pPr>
              <a:spcBef>
                <a:spcPts val="800"/>
              </a:spcBef>
            </a:pPr>
            <a:r>
              <a:rPr sz="1200">
                <a:solidFill>
                  <a:srgbClr val="1F1E1D"/>
                </a:solidFill>
              </a:rPr>
              <a:t>— Where the funder, the regulator or the statute sets the operating model, and the cost of complying with it is nobody's line item. Healthcare · Human services and behavioural health · Government contracting · Public sector · Education and research · Nonprofit and grant-funded</a:t>
            </a:r>
          </a:p>
          <a:p>
            <a:pPr>
              <a:spcBef>
                <a:spcPts val="800"/>
              </a:spcBef>
            </a:pPr>
            <a:r>
              <a:rPr sz="1200">
                <a:solidFill>
                  <a:srgbClr val="1F1E1D"/>
                </a:solidFill>
              </a:rPr>
              <a:t>— Not listed is not out of scope. These are the sectors with a page written for them so far. The operating spine underneath — finance, revenue, receivables, payables, contracts, people, IT, operations, risk, commercial and governance — is the same wherever you sit; what a sector adds is its own regulator, its own filings and its own words for the same losses. Tell us what you do and we will say what we would add. Or start at the index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Two separate jobs. Most people need one of them.</a:t>
            </a:r>
          </a:p>
        </p:txBody>
      </p:sp>
      <p:sp>
        <p:nvSpPr>
          <p:cNvPr id="5" name="TextBox 4"/>
          <p:cNvSpPr txBox="1"/>
          <p:nvPr/>
        </p:nvSpPr>
        <p:spPr>
          <a:xfrm>
            <a:off x="640080" y="1719072"/>
            <a:ext cx="10607040" cy="868680"/>
          </a:xfrm>
          <a:prstGeom prst="rect">
            <a:avLst/>
          </a:prstGeom>
          <a:noFill/>
        </p:spPr>
        <p:txBody>
          <a:bodyPr wrap="square">
            <a:spAutoFit/>
          </a:bodyPr>
          <a:lstStyle/>
          <a:p>
            <a:r>
              <a:rPr sz="1300">
                <a:solidFill>
                  <a:srgbClr val="5C5A54"/>
                </a:solidFill>
              </a:rPr>
              <a:t>Deciding what your organisation is allowed to do with AI, and working out where it would actually earn its keep, are different pieces of work for different reasons. They are priced and delivered separately, and taking one does not commit you to the other — a firm with a client asking hard questions needs the first and may never want the second.</a:t>
            </a:r>
          </a:p>
        </p:txBody>
      </p:sp>
      <p:sp>
        <p:nvSpPr>
          <p:cNvPr id="6" name="TextBox 5"/>
          <p:cNvSpPr txBox="1"/>
          <p:nvPr/>
        </p:nvSpPr>
        <p:spPr>
          <a:xfrm>
            <a:off x="640080" y="2606040"/>
            <a:ext cx="3261360" cy="3749039"/>
          </a:xfrm>
          <a:prstGeom prst="rect">
            <a:avLst/>
          </a:prstGeom>
          <a:noFill/>
        </p:spPr>
        <p:txBody>
          <a:bodyPr wrap="square">
            <a:spAutoFit/>
          </a:bodyPr>
          <a:lstStyle/>
          <a:p>
            <a:r>
              <a:rPr sz="1050" b="1">
                <a:solidFill>
                  <a:srgbClr val="D97757"/>
                </a:solidFill>
              </a:rPr>
              <a:t>ONE — THE POLICY</a:t>
            </a:r>
          </a:p>
          <a:p>
            <a:pPr>
              <a:spcBef>
                <a:spcPts val="700"/>
              </a:spcBef>
            </a:pPr>
            <a:r>
              <a:rPr sz="1150">
                <a:solidFill>
                  <a:srgbClr val="1F1E1D"/>
                </a:solidFill>
              </a:rPr>
              <a:t>— For when somebody is going to ask what you allow, and you need an answer you can stand behind.</a:t>
            </a:r>
          </a:p>
          <a:p>
            <a:pPr>
              <a:spcBef>
                <a:spcPts val="700"/>
              </a:spcBef>
            </a:pPr>
            <a:r>
              <a:rPr sz="1150">
                <a:solidFill>
                  <a:srgbClr val="1F1E1D"/>
                </a:solidFill>
              </a:rPr>
              <a:t>— What is already in use. An inventory from what the network and the expense claims show, not a survey asking people to confess.</a:t>
            </a:r>
          </a:p>
          <a:p>
            <a:pPr>
              <a:spcBef>
                <a:spcPts val="700"/>
              </a:spcBef>
            </a:pPr>
            <a:r>
              <a:rPr sz="1150">
                <a:solidFill>
                  <a:srgbClr val="1F1E1D"/>
                </a:solidFill>
              </a:rPr>
              <a:t>— A policy people will follow. Written to permit rather than forbid: named tools, what may go into each, what must never, who signs an exception. A ban is ignored by the second week and leaves you the same exposure plus a document saying you knew.</a:t>
            </a:r>
          </a:p>
          <a:p>
            <a:pPr>
              <a:spcBef>
                <a:spcPts val="700"/>
              </a:spcBef>
            </a:pPr>
            <a:r>
              <a:rPr sz="1150">
                <a:solidFill>
                  <a:srgbClr val="1F1E1D"/>
                </a:solidFill>
              </a:rPr>
              <a:t>— The evidence behind it. Processing agreements, retention terms, approvals and an audit trail — so the answer exists before a client, an insurer or a regulator asks.</a:t>
            </a:r>
          </a:p>
        </p:txBody>
      </p:sp>
      <p:sp>
        <p:nvSpPr>
          <p:cNvPr id="7" name="TextBox 6"/>
          <p:cNvSpPr txBox="1"/>
          <p:nvPr/>
        </p:nvSpPr>
        <p:spPr>
          <a:xfrm>
            <a:off x="4267200" y="2606040"/>
            <a:ext cx="3261360" cy="3749039"/>
          </a:xfrm>
          <a:prstGeom prst="rect">
            <a:avLst/>
          </a:prstGeom>
          <a:noFill/>
        </p:spPr>
        <p:txBody>
          <a:bodyPr wrap="square">
            <a:spAutoFit/>
          </a:bodyPr>
          <a:lstStyle/>
          <a:p>
            <a:r>
              <a:rPr sz="1050" b="1">
                <a:solidFill>
                  <a:srgbClr val="D97757"/>
                </a:solidFill>
              </a:rPr>
              <a:t>TWO — PUTTING IT TO WORK</a:t>
            </a:r>
          </a:p>
          <a:p>
            <a:pPr>
              <a:spcBef>
                <a:spcPts val="700"/>
              </a:spcBef>
            </a:pPr>
            <a:r>
              <a:rPr sz="1150">
                <a:solidFill>
                  <a:srgbClr val="1F1E1D"/>
                </a:solidFill>
              </a:rPr>
              <a:t>— For when you want the productivity and have nobody who can tell you where it is real.</a:t>
            </a:r>
          </a:p>
          <a:p>
            <a:pPr>
              <a:spcBef>
                <a:spcPts val="700"/>
              </a:spcBef>
            </a:pPr>
            <a:r>
              <a:rPr sz="1150">
                <a:solidFill>
                  <a:srgbClr val="1F1E1D"/>
                </a:solidFill>
              </a:rPr>
              <a:t>— Where it would actually earn. Which work in your operation is genuinely worth automating, judged against how the business runs rather than against what is currently fashionable.</a:t>
            </a:r>
          </a:p>
          <a:p>
            <a:pPr>
              <a:spcBef>
                <a:spcPts val="700"/>
              </a:spcBef>
            </a:pPr>
            <a:r>
              <a:rPr sz="1150">
                <a:solidFill>
                  <a:srgbClr val="1F1E1D"/>
                </a:solidFill>
              </a:rPr>
              <a:t>— Buy, build or neither. What a tool costs to run at your volume, what it would cost to build, and which of the obvious applications will not repay the effort. Often the honest answer is the third one.</a:t>
            </a:r>
          </a:p>
          <a:p>
            <a:pPr>
              <a:spcBef>
                <a:spcPts val="700"/>
              </a:spcBef>
            </a:pPr>
            <a:r>
              <a:rPr sz="1150">
                <a:solidFill>
                  <a:srgbClr val="1F1E1D"/>
                </a:solidFill>
              </a:rPr>
              <a:t>— Delivered so it survives you. Documented, owned by your people, and not dependent on us or on a vendor you cannot leave.</a:t>
            </a:r>
          </a:p>
        </p:txBody>
      </p:sp>
      <p:sp>
        <p:nvSpPr>
          <p:cNvPr id="8" name="TextBox 7"/>
          <p:cNvSpPr txBox="1"/>
          <p:nvPr/>
        </p:nvSpPr>
        <p:spPr>
          <a:xfrm>
            <a:off x="7894320" y="2606040"/>
            <a:ext cx="3261360" cy="3749039"/>
          </a:xfrm>
          <a:prstGeom prst="rect">
            <a:avLst/>
          </a:prstGeom>
          <a:noFill/>
        </p:spPr>
        <p:txBody>
          <a:bodyPr wrap="square">
            <a:spAutoFit/>
          </a:bodyPr>
          <a:lstStyle/>
          <a:p>
            <a:r>
              <a:rPr sz="1050" b="1">
                <a:solidFill>
                  <a:srgbClr val="D97757"/>
                </a:solidFill>
              </a:rPr>
              <a:t>THREE WAYS TO ACTUALLY RUN IT</a:t>
            </a:r>
          </a:p>
          <a:p>
            <a:pPr>
              <a:spcBef>
                <a:spcPts val="700"/>
              </a:spcBef>
            </a:pPr>
            <a:r>
              <a:rPr sz="1150">
                <a:solidFill>
                  <a:srgbClr val="1F1E1D"/>
                </a:solidFill>
              </a:rPr>
              <a:t>— Where the models run decides what you are allowed to put into them. That is an infrastructure question before it is a policy one, and it is the half most advice skips.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Two separate jobs. Most people need one of them. (cont.)</a:t>
            </a:r>
          </a:p>
        </p:txBody>
      </p:sp>
      <p:sp>
        <p:nvSpPr>
          <p:cNvPr id="5" name="TextBox 4"/>
          <p:cNvSpPr txBox="1"/>
          <p:nvPr/>
        </p:nvSpPr>
        <p:spPr>
          <a:xfrm>
            <a:off x="640080" y="1783080"/>
            <a:ext cx="10607040" cy="4206240"/>
          </a:xfrm>
          <a:prstGeom prst="rect">
            <a:avLst/>
          </a:prstGeom>
          <a:noFill/>
        </p:spPr>
        <p:txBody>
          <a:bodyPr wrap="square">
            <a:spAutoFit/>
          </a:bodyPr>
          <a:lstStyle/>
          <a:p>
            <a:r>
              <a:rPr sz="1050" b="1">
                <a:solidFill>
                  <a:srgbClr val="D97757"/>
                </a:solidFill>
              </a:rPr>
              <a:t>A PRIVATE INSTALLATION</a:t>
            </a:r>
          </a:p>
          <a:p>
            <a:pPr>
              <a:spcBef>
                <a:spcPts val="800"/>
              </a:spcBef>
            </a:pPr>
            <a:r>
              <a:rPr sz="1200">
                <a:solidFill>
                  <a:srgbClr val="1F1E1D"/>
                </a:solidFill>
              </a:rPr>
              <a:t>— One machine in your rack running open models on hardware you own. Nothing leaves the building — the only arrangement that works for controlled technical data, client confidences or patient records. $45,000 specified, procured, built, benchmarked and handed over — hardware bought in your name, no margin taken on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Two separate jobs. Most people need one of them. (cont.)</a:t>
            </a:r>
          </a:p>
        </p:txBody>
      </p:sp>
      <p:sp>
        <p:nvSpPr>
          <p:cNvPr id="5" name="TextBox 4"/>
          <p:cNvSpPr txBox="1"/>
          <p:nvPr/>
        </p:nvSpPr>
        <p:spPr>
          <a:xfrm>
            <a:off x="640080" y="1783080"/>
            <a:ext cx="10607040" cy="4206240"/>
          </a:xfrm>
          <a:prstGeom prst="rect">
            <a:avLst/>
          </a:prstGeom>
          <a:noFill/>
        </p:spPr>
        <p:txBody>
          <a:bodyPr wrap="square">
            <a:spAutoFit/>
          </a:bodyPr>
          <a:lstStyle/>
          <a:p>
            <a:r>
              <a:rPr sz="1050" b="1">
                <a:solidFill>
                  <a:srgbClr val="D97757"/>
                </a:solidFill>
              </a:rPr>
              <a:t>THE RIGHT PROVIDER, CHOSEN PROPERLY</a:t>
            </a:r>
          </a:p>
          <a:p>
            <a:pPr>
              <a:spcBef>
                <a:spcPts val="800"/>
              </a:spcBef>
            </a:pPr>
            <a:r>
              <a:rPr sz="1200">
                <a:solidFill>
                  <a:srgbClr val="1F1E1D"/>
                </a:solidFill>
              </a:rPr>
              <a:t>— Which platform fits the work, what it costs at your volume rather than at list, where your data goes and what the exit looks like. Ends in a written recommendation you can put to a board. $22,000 with the numbers behind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Two separate jobs. Most people need one of them. (cont.)</a:t>
            </a:r>
          </a:p>
        </p:txBody>
      </p:sp>
      <p:sp>
        <p:nvSpPr>
          <p:cNvPr id="5" name="TextBox 4"/>
          <p:cNvSpPr txBox="1"/>
          <p:nvPr/>
        </p:nvSpPr>
        <p:spPr>
          <a:xfrm>
            <a:off x="640080" y="1783080"/>
            <a:ext cx="10607040" cy="4206240"/>
          </a:xfrm>
          <a:prstGeom prst="rect">
            <a:avLst/>
          </a:prstGeom>
          <a:noFill/>
        </p:spPr>
        <p:txBody>
          <a:bodyPr wrap="square">
            <a:spAutoFit/>
          </a:bodyPr>
          <a:lstStyle/>
          <a:p>
            <a:r>
              <a:rPr sz="1050" b="1">
                <a:solidFill>
                  <a:srgbClr val="D97757"/>
                </a:solidFill>
              </a:rPr>
              <a:t>FROM A FEW NODES TO TENS OF THOUSANDS OF GPUS</a:t>
            </a:r>
          </a:p>
          <a:p>
            <a:pPr>
              <a:spcBef>
                <a:spcPts val="800"/>
              </a:spcBef>
            </a:pPr>
            <a:r>
              <a:rPr sz="1200">
                <a:solidFill>
                  <a:srgbClr val="1F1E1D"/>
                </a:solidFill>
              </a:rPr>
              <a:t>— The same discipline at every size — what changes is which layer fails first. At a few nodes it is scheduling. At a few hundred it is the fabric. Past that it is storage bandwidth, then power and cooling. Built, benchmarked against what was actually sold to you, and instrumented so you can prove it. Quoted per build after a scoping session</a:t>
            </a:r>
          </a:p>
          <a:p>
            <a:pPr>
              <a:spcBef>
                <a:spcPts val="800"/>
              </a:spcBef>
            </a:pPr>
            <a:r>
              <a:rPr sz="1200">
                <a:solidFill>
                  <a:srgbClr val="1F1E1D"/>
                </a:solidFill>
              </a:rPr>
              <a:t>— Start with a scoping session — $4,500 — Half a day with whoever owns the decision — usually two or three of your people, and worth having them all in the room. What you are already running, what you are actually trying to do, what your sector will and will not permit, and an honest read on whether it needs building, buying or dropping. Written up afterwards so it survives the meeting. Credited in full against whatever you commission next, with no deadline on that.</a:t>
            </a:r>
          </a:p>
          <a:p>
            <a:pPr>
              <a:spcBef>
                <a:spcPts val="800"/>
              </a:spcBef>
            </a:pPr>
            <a:r>
              <a:rPr sz="1200">
                <a:solidFill>
                  <a:srgbClr val="1F1E1D"/>
                </a:solidFill>
              </a:rPr>
              <a:t>— They connect, but only if you want them to. Knowing which of your work a model is good at is an operating question, answered by reading how the business actually runs — which is what the rest of this page is about. If a review is already happening, this costs very little extra. If it is not, either job stands perfectly well on its own.</a:t>
            </a:r>
          </a:p>
          <a:p>
            <a:pPr>
              <a:spcBef>
                <a:spcPts val="800"/>
              </a:spcBef>
            </a:pPr>
            <a:r>
              <a:rPr sz="1200">
                <a:solidFill>
                  <a:srgbClr val="1F1E1D"/>
                </a:solidFill>
              </a:rPr>
              <a:t>— Your sector already has a view. A law firm has bar guidance on client confidences. A defence supplier has controlled technical data that must not reach a public model at all. A practice has patient records and a business associate agreement written before any of this existed. What makes general advice usable is knowing which rules are yours, which is what the industry pages are for.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The rules the engagement has to live inside.</a:t>
            </a:r>
          </a:p>
        </p:txBody>
      </p:sp>
      <p:sp>
        <p:nvSpPr>
          <p:cNvPr id="5" name="TextBox 4"/>
          <p:cNvSpPr txBox="1"/>
          <p:nvPr/>
        </p:nvSpPr>
        <p:spPr>
          <a:xfrm>
            <a:off x="640080" y="1719072"/>
            <a:ext cx="10607040" cy="868680"/>
          </a:xfrm>
          <a:prstGeom prst="rect">
            <a:avLst/>
          </a:prstGeom>
          <a:noFill/>
        </p:spPr>
        <p:txBody>
          <a:bodyPr wrap="square">
            <a:spAutoFit/>
          </a:bodyPr>
          <a:lstStyle/>
          <a:p>
            <a:r>
              <a:rPr sz="1300">
                <a:solidFill>
                  <a:srgbClr val="5C5A54"/>
                </a:solidFill>
              </a:rPr>
              <a:t>A review of the whole operation reaches the parts of it that are regulated. Payroll, contracts, the general ledger, customer records and in some sectors patient or student records all sit inside somebody’s regime, and the review does not get an exemption from it. These are the frameworks the work is delivered under — described as capability and commitment, not as certification.</a:t>
            </a:r>
          </a:p>
        </p:txBody>
      </p:sp>
      <p:sp>
        <p:nvSpPr>
          <p:cNvPr id="6" name="TextBox 5"/>
          <p:cNvSpPr txBox="1"/>
          <p:nvPr/>
        </p:nvSpPr>
        <p:spPr>
          <a:xfrm>
            <a:off x="640080" y="2606040"/>
            <a:ext cx="3261360" cy="3749039"/>
          </a:xfrm>
          <a:prstGeom prst="rect">
            <a:avLst/>
          </a:prstGeom>
          <a:noFill/>
        </p:spPr>
        <p:txBody>
          <a:bodyPr wrap="square">
            <a:spAutoFit/>
          </a:bodyPr>
          <a:lstStyle/>
          <a:p>
            <a:r>
              <a:rPr sz="1050" b="1">
                <a:solidFill>
                  <a:srgbClr val="D97757"/>
                </a:solidFill>
              </a:rPr>
              <a:t>HEALTH INFORMATION</a:t>
            </a:r>
          </a:p>
          <a:p>
            <a:pPr>
              <a:spcBef>
                <a:spcPts val="700"/>
              </a:spcBef>
            </a:pPr>
            <a:r>
              <a:rPr sz="1150">
                <a:solidFill>
                  <a:srgbClr val="1F1E1D"/>
                </a:solidFill>
              </a:rPr>
              <a:t>— Where protected health information is in scope, a business associate agreement is signed before any data moves, and the engagement runs to the HIPAA Security Rule and the minimum-necessary standard. In practice we ask for de-identified or aggregated extracts first and identifiable data only where a finding genuinely depends on it. GxP and 21 CFR Part 11 where electronic records and signatures are in scope.</a:t>
            </a:r>
          </a:p>
        </p:txBody>
      </p:sp>
      <p:sp>
        <p:nvSpPr>
          <p:cNvPr id="7" name="TextBox 6"/>
          <p:cNvSpPr txBox="1"/>
          <p:nvPr/>
        </p:nvSpPr>
        <p:spPr>
          <a:xfrm>
            <a:off x="4267200" y="2606040"/>
            <a:ext cx="3261360" cy="3749039"/>
          </a:xfrm>
          <a:prstGeom prst="rect">
            <a:avLst/>
          </a:prstGeom>
          <a:noFill/>
        </p:spPr>
        <p:txBody>
          <a:bodyPr wrap="square">
            <a:spAutoFit/>
          </a:bodyPr>
          <a:lstStyle/>
          <a:p>
            <a:r>
              <a:rPr sz="1050" b="1">
                <a:solidFill>
                  <a:srgbClr val="D97757"/>
                </a:solidFill>
              </a:rPr>
              <a:t>CONTROLLED UNCLASSIFIED INFORMATION</a:t>
            </a:r>
          </a:p>
          <a:p>
            <a:pPr>
              <a:spcBef>
                <a:spcPts val="700"/>
              </a:spcBef>
            </a:pPr>
            <a:r>
              <a:rPr sz="1150">
                <a:solidFill>
                  <a:srgbClr val="1F1E1D"/>
                </a:solidFill>
              </a:rPr>
              <a:t>— CUI is handled to NIST SP 800-171, with the system security plan and POA&amp;M that go with it, and NIST SP 800-53 where a federal system is involved. Media sanitisation on disposal follows NIST SP 800-88. Where a contract carries CMMC obligations or flow-down clauses, those govern what we may hold and where — and we will say so before accepting the work rather than after.</a:t>
            </a:r>
          </a:p>
        </p:txBody>
      </p:sp>
      <p:sp>
        <p:nvSpPr>
          <p:cNvPr id="8" name="TextBox 7"/>
          <p:cNvSpPr txBox="1"/>
          <p:nvPr/>
        </p:nvSpPr>
        <p:spPr>
          <a:xfrm>
            <a:off x="7894320" y="2606040"/>
            <a:ext cx="3261360" cy="3749039"/>
          </a:xfrm>
          <a:prstGeom prst="rect">
            <a:avLst/>
          </a:prstGeom>
          <a:noFill/>
        </p:spPr>
        <p:txBody>
          <a:bodyPr wrap="square">
            <a:spAutoFit/>
          </a:bodyPr>
          <a:lstStyle/>
          <a:p>
            <a:r>
              <a:rPr sz="1050" b="1">
                <a:solidFill>
                  <a:srgbClr val="D97757"/>
                </a:solidFill>
              </a:rPr>
              <a:t>EXPORT CONTROL AND SANCTIONS</a:t>
            </a:r>
          </a:p>
          <a:p>
            <a:pPr>
              <a:spcBef>
                <a:spcPts val="700"/>
              </a:spcBef>
            </a:pPr>
            <a:r>
              <a:rPr sz="1150">
                <a:solidFill>
                  <a:srgbClr val="1F1E1D"/>
                </a:solidFill>
              </a:rPr>
              <a:t>— EAR and ITAR where they apply, including the part that catches research organisations: giving a foreign national access to controlled technology is an export, and a document request is a form of access. Restricted party and OFAC screening, technology control plans, and an honest reading of where the fundamental research exclusion applies rather than where it would be convenient.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The rules the engagement has to live inside. (cont.)</a:t>
            </a:r>
          </a:p>
        </p:txBody>
      </p:sp>
      <p:sp>
        <p:nvSpPr>
          <p:cNvPr id="5" name="TextBox 4"/>
          <p:cNvSpPr txBox="1"/>
          <p:nvPr/>
        </p:nvSpPr>
        <p:spPr>
          <a:xfrm>
            <a:off x="640080" y="1783080"/>
            <a:ext cx="10607040" cy="4206240"/>
          </a:xfrm>
          <a:prstGeom prst="rect">
            <a:avLst/>
          </a:prstGeom>
          <a:noFill/>
        </p:spPr>
        <p:txBody>
          <a:bodyPr wrap="square">
            <a:spAutoFit/>
          </a:bodyPr>
          <a:lstStyle/>
          <a:p>
            <a:r>
              <a:rPr sz="1050" b="1">
                <a:solidFill>
                  <a:srgbClr val="D97757"/>
                </a:solidFill>
              </a:rPr>
              <a:t>PRIVACY, PAYMENTS AND RECORDS</a:t>
            </a:r>
          </a:p>
          <a:p>
            <a:pPr>
              <a:spcBef>
                <a:spcPts val="800"/>
              </a:spcBef>
            </a:pPr>
            <a:r>
              <a:rPr sz="1200">
                <a:solidFill>
                  <a:srgbClr val="1F1E1D"/>
                </a:solidFill>
              </a:rPr>
              <a:t>— GDPR and UK GDPR where a collaboration or a customer base crosses into scope, with a data processing agreement rather than an assurance. FERPA for education records. PCI DSS is handled by keeping cardholder data out of scope by default — we ask for settlement and reconciliation data, not card numbers. Where your own regime is something else, it governs, and we work to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The rules the engagement has to live inside. (cont.)</a:t>
            </a:r>
          </a:p>
        </p:txBody>
      </p:sp>
      <p:sp>
        <p:nvSpPr>
          <p:cNvPr id="5" name="TextBox 4"/>
          <p:cNvSpPr txBox="1"/>
          <p:nvPr/>
        </p:nvSpPr>
        <p:spPr>
          <a:xfrm>
            <a:off x="640080" y="1783080"/>
            <a:ext cx="10607040" cy="4206240"/>
          </a:xfrm>
          <a:prstGeom prst="rect">
            <a:avLst/>
          </a:prstGeom>
          <a:noFill/>
        </p:spPr>
        <p:txBody>
          <a:bodyPr wrap="square">
            <a:spAutoFit/>
          </a:bodyPr>
          <a:lstStyle/>
          <a:p>
            <a:r>
              <a:rPr sz="1050" b="1">
                <a:solidFill>
                  <a:srgbClr val="D97757"/>
                </a:solidFill>
              </a:rPr>
              <a:t>AGREED BEFORE WORK BEGINS</a:t>
            </a:r>
          </a:p>
          <a:p>
            <a:pPr>
              <a:spcBef>
                <a:spcPts val="800"/>
              </a:spcBef>
            </a:pPr>
            <a:r>
              <a:rPr sz="1200">
                <a:solidFill>
                  <a:srgbClr val="1F1E1D"/>
                </a:solidFill>
              </a:rPr>
              <a:t>— What we may hold, where it may be stored, who may see it, how long it is kept and how it is destroyed are agreed in writing before the first document moves — NDA, and a BAA or DPA where one is required. Named individuals, not “the team”. No subprocessing without your agreement. The commercial half of the same question is in the ordering terms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The rules the engagement has to live inside. (cont.)</a:t>
            </a:r>
          </a:p>
        </p:txBody>
      </p:sp>
      <p:sp>
        <p:nvSpPr>
          <p:cNvPr id="5" name="TextBox 4"/>
          <p:cNvSpPr txBox="1"/>
          <p:nvPr/>
        </p:nvSpPr>
        <p:spPr>
          <a:xfrm>
            <a:off x="640080" y="1783080"/>
            <a:ext cx="10607040" cy="4206240"/>
          </a:xfrm>
          <a:prstGeom prst="rect">
            <a:avLst/>
          </a:prstGeom>
          <a:noFill/>
        </p:spPr>
        <p:txBody>
          <a:bodyPr wrap="square">
            <a:spAutoFit/>
          </a:bodyPr>
          <a:lstStyle/>
          <a:p>
            <a:r>
              <a:rPr sz="1050" b="1">
                <a:solidFill>
                  <a:srgbClr val="D97757"/>
                </a:solidFill>
              </a:rPr>
              <a:t>WHAT THE COMMITMENT ACTUALLY LOOKS LIKE</a:t>
            </a:r>
          </a:p>
          <a:p>
            <a:pPr>
              <a:spcBef>
                <a:spcPts val="800"/>
              </a:spcBef>
            </a:pPr>
            <a:r>
              <a:rPr sz="1200">
                <a:solidFill>
                  <a:srgbClr val="1F1E1D"/>
                </a:solidFill>
              </a:rPr>
              <a:t>— Documents go to private storage with no public address; access is by an unguessable per-engagement link, never a shared password; every open, view, upload and download is written to an append-only log, so “who saw our payroll file” has a list for an answer; and a retention date is set at the start and enforced by the storage itself rather than by anyone remembering. That is the client portal .</a:t>
            </a:r>
          </a:p>
          <a:p>
            <a:pPr>
              <a:spcBef>
                <a:spcPts val="800"/>
              </a:spcBef>
            </a:pPr>
            <a:r>
              <a:rPr sz="1200">
                <a:solidFill>
                  <a:srgbClr val="1F1E1D"/>
                </a:solidFill>
              </a:rPr>
              <a:t>— Said plainly, because the distinction matters. Everything above is a statement of how we work and what we will commit to, not a certification. There is no such thing as being “HIPAA certified”, and a firm that says otherwise has told you something useful about the rest of its claims. Where you need evidence rather than assurance — a completed security questionnaire, a signed BAA, a named data controller, your own paper instead of ours — ask, and it happens before the engagement starts rather than during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Full operating diagnostic.</a:t>
            </a:r>
          </a:p>
        </p:txBody>
      </p:sp>
      <p:sp>
        <p:nvSpPr>
          <p:cNvPr id="5" name="TextBox 4"/>
          <p:cNvSpPr txBox="1"/>
          <p:nvPr/>
        </p:nvSpPr>
        <p:spPr>
          <a:xfrm>
            <a:off x="640080" y="1719072"/>
            <a:ext cx="10607040" cy="868680"/>
          </a:xfrm>
          <a:prstGeom prst="rect">
            <a:avLst/>
          </a:prstGeom>
          <a:noFill/>
        </p:spPr>
        <p:txBody>
          <a:bodyPr wrap="square">
            <a:spAutoFit/>
          </a:bodyPr>
          <a:lstStyle/>
          <a:p>
            <a:r>
              <a:rPr sz="1300">
                <a:solidFill>
                  <a:srgbClr val="5C5A54"/>
                </a:solidFill>
              </a:rPr>
              <a:t>We apply the same method across finance, IT, compliance, people, legal, marketing and sales operations, in whatever sector you are in. Phase one stands alone. The report is yours; phase two is discussed only afterward.</a:t>
            </a:r>
          </a:p>
        </p:txBody>
      </p:sp>
      <p:sp>
        <p:nvSpPr>
          <p:cNvPr id="6" name="TextBox 5"/>
          <p:cNvSpPr txBox="1"/>
          <p:nvPr/>
        </p:nvSpPr>
        <p:spPr>
          <a:xfrm>
            <a:off x="640080" y="2606040"/>
            <a:ext cx="5074920" cy="3749039"/>
          </a:xfrm>
          <a:prstGeom prst="rect">
            <a:avLst/>
          </a:prstGeom>
          <a:noFill/>
        </p:spPr>
        <p:txBody>
          <a:bodyPr wrap="square">
            <a:spAutoFit/>
          </a:bodyPr>
          <a:lstStyle/>
          <a:p>
            <a:r>
              <a:rPr sz="1050" b="1">
                <a:solidFill>
                  <a:srgbClr val="D97757"/>
                </a:solidFill>
              </a:rPr>
              <a:t>OUR APPROACH</a:t>
            </a:r>
          </a:p>
          <a:p>
            <a:pPr>
              <a:spcBef>
                <a:spcPts val="700"/>
              </a:spcBef>
            </a:pPr>
            <a:r>
              <a:rPr sz="1150">
                <a:solidFill>
                  <a:srgbClr val="1F1E1D"/>
                </a:solidFill>
              </a:rPr>
              <a:t>— Finance operations reviewed end to end</a:t>
            </a:r>
          </a:p>
          <a:p>
            <a:pPr>
              <a:spcBef>
                <a:spcPts val="700"/>
              </a:spcBef>
            </a:pPr>
            <a:r>
              <a:rPr sz="1150">
                <a:solidFill>
                  <a:srgbClr val="1F1E1D"/>
                </a:solidFill>
              </a:rPr>
              <a:t>— Revenue leakage traced to root cause</a:t>
            </a:r>
          </a:p>
          <a:p>
            <a:pPr>
              <a:spcBef>
                <a:spcPts val="700"/>
              </a:spcBef>
            </a:pPr>
            <a:r>
              <a:rPr sz="1150">
                <a:solidFill>
                  <a:srgbClr val="1F1E1D"/>
                </a:solidFill>
              </a:rPr>
              <a:t>— IT operations, access and data workflows mapped</a:t>
            </a:r>
          </a:p>
          <a:p>
            <a:pPr>
              <a:spcBef>
                <a:spcPts val="700"/>
              </a:spcBef>
            </a:pPr>
            <a:r>
              <a:rPr sz="1150">
                <a:solidFill>
                  <a:srgbClr val="1F1E1D"/>
                </a:solidFill>
              </a:rPr>
              <a:t>— Compliance and regulatory stance reviewed</a:t>
            </a:r>
          </a:p>
          <a:p>
            <a:pPr>
              <a:spcBef>
                <a:spcPts val="700"/>
              </a:spcBef>
            </a:pPr>
            <a:r>
              <a:rPr sz="1150">
                <a:solidFill>
                  <a:srgbClr val="1F1E1D"/>
                </a:solidFill>
              </a:rPr>
              <a:t>— Legal contracts and vendor obligations tested</a:t>
            </a:r>
          </a:p>
          <a:p>
            <a:pPr>
              <a:spcBef>
                <a:spcPts val="700"/>
              </a:spcBef>
            </a:pPr>
            <a:r>
              <a:rPr sz="1150">
                <a:solidFill>
                  <a:srgbClr val="1F1E1D"/>
                </a:solidFill>
              </a:rPr>
              <a:t>— Marketing and sales operations assessed</a:t>
            </a:r>
          </a:p>
        </p:txBody>
      </p:sp>
      <p:sp>
        <p:nvSpPr>
          <p:cNvPr id="7" name="TextBox 6"/>
          <p:cNvSpPr txBox="1"/>
          <p:nvPr/>
        </p:nvSpPr>
        <p:spPr>
          <a:xfrm>
            <a:off x="6080760" y="2606040"/>
            <a:ext cx="5074920" cy="3749039"/>
          </a:xfrm>
          <a:prstGeom prst="rect">
            <a:avLst/>
          </a:prstGeom>
          <a:noFill/>
        </p:spPr>
        <p:txBody>
          <a:bodyPr wrap="square">
            <a:spAutoFit/>
          </a:bodyPr>
          <a:lstStyle/>
          <a:p>
            <a:r>
              <a:rPr sz="1050" b="1">
                <a:solidFill>
                  <a:srgbClr val="D97757"/>
                </a:solidFill>
              </a:rPr>
              <a:t>THE REPORT</a:t>
            </a:r>
          </a:p>
          <a:p>
            <a:pPr>
              <a:spcBef>
                <a:spcPts val="700"/>
              </a:spcBef>
            </a:pPr>
            <a:r>
              <a:rPr sz="1150">
                <a:solidFill>
                  <a:srgbClr val="1F1E1D"/>
                </a:solidFill>
              </a:rPr>
              <a:t>— What works and what to protect</a:t>
            </a:r>
          </a:p>
          <a:p>
            <a:pPr>
              <a:spcBef>
                <a:spcPts val="700"/>
              </a:spcBef>
            </a:pPr>
            <a:r>
              <a:rPr sz="1150">
                <a:solidFill>
                  <a:srgbClr val="1F1E1D"/>
                </a:solidFill>
              </a:rPr>
              <a:t>— Every material finding quantified</a:t>
            </a:r>
          </a:p>
          <a:p>
            <a:pPr>
              <a:spcBef>
                <a:spcPts val="700"/>
              </a:spcBef>
            </a:pPr>
            <a:r>
              <a:rPr sz="1150">
                <a:solidFill>
                  <a:srgbClr val="1F1E1D"/>
                </a:solidFill>
              </a:rPr>
              <a:t>— Cost now vs. cost to fix</a:t>
            </a:r>
          </a:p>
          <a:p>
            <a:pPr>
              <a:spcBef>
                <a:spcPts val="700"/>
              </a:spcBef>
            </a:pPr>
            <a:r>
              <a:rPr sz="1150">
                <a:solidFill>
                  <a:srgbClr val="1F1E1D"/>
                </a:solidFill>
              </a:rPr>
              <a:t>— What not to fix</a:t>
            </a:r>
          </a:p>
          <a:p>
            <a:pPr>
              <a:spcBef>
                <a:spcPts val="700"/>
              </a:spcBef>
            </a:pPr>
            <a:r>
              <a:rPr sz="1150">
                <a:solidFill>
                  <a:srgbClr val="1F1E1D"/>
                </a:solidFill>
              </a:rPr>
              <a:t>— Owners, dates and sequence</a:t>
            </a:r>
          </a:p>
          <a:p>
            <a:pPr>
              <a:spcBef>
                <a:spcPts val="700"/>
              </a:spcBef>
            </a:pPr>
            <a:r>
              <a:rPr sz="1150">
                <a:solidFill>
                  <a:srgbClr val="1F1E1D"/>
                </a:solidFill>
              </a:rPr>
              <a:t>— Not ready to commission the whole thing? The operating diagnostic is the short, bounded version of exactly this: the same six areas, enough of each to establish where the loss is actually concentrated and whether a full review is worth commissioning at all. If it is not, we say so. It is the sensible place to start, and it can be raised on a purchase order like anything else.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Improve and build.</a:t>
            </a:r>
          </a:p>
        </p:txBody>
      </p:sp>
      <p:sp>
        <p:nvSpPr>
          <p:cNvPr id="5" name="TextBox 4"/>
          <p:cNvSpPr txBox="1"/>
          <p:nvPr/>
        </p:nvSpPr>
        <p:spPr>
          <a:xfrm>
            <a:off x="640080" y="1719072"/>
            <a:ext cx="10607040" cy="868680"/>
          </a:xfrm>
          <a:prstGeom prst="rect">
            <a:avLst/>
          </a:prstGeom>
          <a:noFill/>
        </p:spPr>
        <p:txBody>
          <a:bodyPr wrap="square">
            <a:spAutoFit/>
          </a:bodyPr>
          <a:lstStyle/>
          <a:p>
            <a:r>
              <a:rPr sz="1300">
                <a:solidFill>
                  <a:srgbClr val="5C5A54"/>
                </a:solidFill>
              </a:rPr>
              <a:t>We scale what already works, then repair the systems that slow the business down. We build technology only where it improves the economics.</a:t>
            </a:r>
          </a:p>
        </p:txBody>
      </p:sp>
      <p:sp>
        <p:nvSpPr>
          <p:cNvPr id="6" name="TextBox 5"/>
          <p:cNvSpPr txBox="1"/>
          <p:nvPr/>
        </p:nvSpPr>
        <p:spPr>
          <a:xfrm>
            <a:off x="640080" y="2606040"/>
            <a:ext cx="3261360" cy="3749039"/>
          </a:xfrm>
          <a:prstGeom prst="rect">
            <a:avLst/>
          </a:prstGeom>
          <a:noFill/>
        </p:spPr>
        <p:txBody>
          <a:bodyPr wrap="square">
            <a:spAutoFit/>
          </a:bodyPr>
          <a:lstStyle/>
          <a:p>
            <a:r>
              <a:rPr sz="1050" b="1">
                <a:solidFill>
                  <a:srgbClr val="D97757"/>
                </a:solidFill>
              </a:rPr>
              <a:t>EXTEND &amp; REWARD</a:t>
            </a:r>
          </a:p>
          <a:p>
            <a:pPr>
              <a:spcBef>
                <a:spcPts val="700"/>
              </a:spcBef>
            </a:pPr>
            <a:r>
              <a:rPr sz="1150">
                <a:solidFill>
                  <a:srgbClr val="1F1E1D"/>
                </a:solidFill>
              </a:rPr>
              <a:t>— Scale methods already working</a:t>
            </a:r>
          </a:p>
          <a:p>
            <a:pPr>
              <a:spcBef>
                <a:spcPts val="700"/>
              </a:spcBef>
            </a:pPr>
            <a:r>
              <a:rPr sz="1150">
                <a:solidFill>
                  <a:srgbClr val="1F1E1D"/>
                </a:solidFill>
              </a:rPr>
              <a:t>— Recognize the people behind them</a:t>
            </a:r>
          </a:p>
          <a:p>
            <a:pPr>
              <a:spcBef>
                <a:spcPts val="700"/>
              </a:spcBef>
            </a:pPr>
            <a:r>
              <a:rPr sz="1150">
                <a:solidFill>
                  <a:srgbClr val="1F1E1D"/>
                </a:solidFill>
              </a:rPr>
              <a:t>— Align incentives to clean performance</a:t>
            </a:r>
          </a:p>
          <a:p>
            <a:pPr>
              <a:spcBef>
                <a:spcPts val="700"/>
              </a:spcBef>
            </a:pPr>
            <a:r>
              <a:rPr sz="1150">
                <a:solidFill>
                  <a:srgbClr val="1F1E1D"/>
                </a:solidFill>
              </a:rPr>
              <a:t>— Protect what should not change</a:t>
            </a:r>
          </a:p>
        </p:txBody>
      </p:sp>
      <p:sp>
        <p:nvSpPr>
          <p:cNvPr id="7" name="TextBox 6"/>
          <p:cNvSpPr txBox="1"/>
          <p:nvPr/>
        </p:nvSpPr>
        <p:spPr>
          <a:xfrm>
            <a:off x="4267200" y="2606040"/>
            <a:ext cx="3261360" cy="3749039"/>
          </a:xfrm>
          <a:prstGeom prst="rect">
            <a:avLst/>
          </a:prstGeom>
          <a:noFill/>
        </p:spPr>
        <p:txBody>
          <a:bodyPr wrap="square">
            <a:spAutoFit/>
          </a:bodyPr>
          <a:lstStyle/>
          <a:p>
            <a:r>
              <a:rPr sz="1050" b="1">
                <a:solidFill>
                  <a:srgbClr val="D97757"/>
                </a:solidFill>
              </a:rPr>
              <a:t>REPAIR &amp; REBUILD</a:t>
            </a:r>
          </a:p>
          <a:p>
            <a:pPr>
              <a:spcBef>
                <a:spcPts val="700"/>
              </a:spcBef>
            </a:pPr>
            <a:r>
              <a:rPr sz="1150">
                <a:solidFill>
                  <a:srgbClr val="1F1E1D"/>
                </a:solidFill>
              </a:rPr>
              <a:t>— Rebuild finance and IT workflows</a:t>
            </a:r>
          </a:p>
          <a:p>
            <a:pPr>
              <a:spcBef>
                <a:spcPts val="700"/>
              </a:spcBef>
            </a:pPr>
            <a:r>
              <a:rPr sz="1150">
                <a:solidFill>
                  <a:srgbClr val="1F1E1D"/>
                </a:solidFill>
              </a:rPr>
              <a:t>— Close compliance and readiness gaps</a:t>
            </a:r>
          </a:p>
          <a:p>
            <a:pPr>
              <a:spcBef>
                <a:spcPts val="700"/>
              </a:spcBef>
            </a:pPr>
            <a:r>
              <a:rPr sz="1150">
                <a:solidFill>
                  <a:srgbClr val="1F1E1D"/>
                </a:solidFill>
              </a:rPr>
              <a:t>— Renegotiate legal and vendor terms</a:t>
            </a:r>
          </a:p>
          <a:p>
            <a:pPr>
              <a:spcBef>
                <a:spcPts val="700"/>
              </a:spcBef>
            </a:pPr>
            <a:r>
              <a:rPr sz="1150">
                <a:solidFill>
                  <a:srgbClr val="1F1E1D"/>
                </a:solidFill>
              </a:rPr>
              <a:t>— Clean up marketing and sales handoffs</a:t>
            </a:r>
          </a:p>
          <a:p>
            <a:pPr>
              <a:spcBef>
                <a:spcPts val="700"/>
              </a:spcBef>
            </a:pPr>
            <a:r>
              <a:rPr sz="1150">
                <a:solidFill>
                  <a:srgbClr val="1F1E1D"/>
                </a:solidFill>
              </a:rPr>
              <a:t>— Train staff on the new process</a:t>
            </a:r>
          </a:p>
        </p:txBody>
      </p:sp>
      <p:sp>
        <p:nvSpPr>
          <p:cNvPr id="8" name="TextBox 7"/>
          <p:cNvSpPr txBox="1"/>
          <p:nvPr/>
        </p:nvSpPr>
        <p:spPr>
          <a:xfrm>
            <a:off x="7894320" y="2606040"/>
            <a:ext cx="3261360" cy="3749039"/>
          </a:xfrm>
          <a:prstGeom prst="rect">
            <a:avLst/>
          </a:prstGeom>
          <a:noFill/>
        </p:spPr>
        <p:txBody>
          <a:bodyPr wrap="square">
            <a:spAutoFit/>
          </a:bodyPr>
          <a:lstStyle/>
          <a:p>
            <a:r>
              <a:rPr sz="1050" b="1">
                <a:solidFill>
                  <a:srgbClr val="D97757"/>
                </a:solidFill>
              </a:rPr>
              <a:t>CUSTOM BUILD — IF APPLICABLE</a:t>
            </a:r>
          </a:p>
          <a:p>
            <a:pPr>
              <a:spcBef>
                <a:spcPts val="700"/>
              </a:spcBef>
            </a:pPr>
            <a:r>
              <a:rPr sz="1150">
                <a:solidFill>
                  <a:srgbClr val="1F1E1D"/>
                </a:solidFill>
              </a:rPr>
              <a:t>— Pre-bill review using rejection history</a:t>
            </a:r>
          </a:p>
          <a:p>
            <a:pPr>
              <a:spcBef>
                <a:spcPts val="700"/>
              </a:spcBef>
            </a:pPr>
            <a:r>
              <a:rPr sz="1150">
                <a:solidFill>
                  <a:srgbClr val="1F1E1D"/>
                </a:solidFill>
              </a:rPr>
              <a:t>— Finance and contract exception reporting</a:t>
            </a:r>
          </a:p>
          <a:p>
            <a:pPr>
              <a:spcBef>
                <a:spcPts val="700"/>
              </a:spcBef>
            </a:pPr>
            <a:r>
              <a:rPr sz="1150">
                <a:solidFill>
                  <a:srgbClr val="1F1E1D"/>
                </a:solidFill>
              </a:rPr>
              <a:t>— Document classification</a:t>
            </a:r>
          </a:p>
          <a:p>
            <a:pPr>
              <a:spcBef>
                <a:spcPts val="700"/>
              </a:spcBef>
            </a:pPr>
            <a:r>
              <a:rPr sz="1150">
                <a:solidFill>
                  <a:srgbClr val="1F1E1D"/>
                </a:solidFill>
              </a:rPr>
              <a:t>— Automated screening and eligibility checks</a:t>
            </a:r>
          </a:p>
          <a:p>
            <a:pPr>
              <a:spcBef>
                <a:spcPts val="700"/>
              </a:spcBef>
            </a:pPr>
            <a:r>
              <a:rPr sz="1150">
                <a:solidFill>
                  <a:srgbClr val="1F1E1D"/>
                </a:solidFill>
              </a:rPr>
              <a:t>— AI-use and data-access monitoring</a:t>
            </a:r>
          </a:p>
          <a:p>
            <a:pPr>
              <a:spcBef>
                <a:spcPts val="700"/>
              </a:spcBef>
            </a:pPr>
            <a:r>
              <a:rPr sz="1150">
                <a:solidFill>
                  <a:srgbClr val="1F1E1D"/>
                </a:solidFill>
              </a:rPr>
              <a:t>— Phase two is never sold before phase one is delivered. When the findings are agreed and you want help landing them, implementation support is scoped and quoted against those findings — not before them, and never as a condition of receiving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Make the work better across the whole operation.</a:t>
            </a:r>
          </a:p>
        </p:txBody>
      </p:sp>
      <p:sp>
        <p:nvSpPr>
          <p:cNvPr id="5" name="TextBox 4"/>
          <p:cNvSpPr txBox="1"/>
          <p:nvPr/>
        </p:nvSpPr>
        <p:spPr>
          <a:xfrm>
            <a:off x="640080" y="1719072"/>
            <a:ext cx="10607040" cy="868680"/>
          </a:xfrm>
          <a:prstGeom prst="rect">
            <a:avLst/>
          </a:prstGeom>
          <a:noFill/>
        </p:spPr>
        <p:txBody>
          <a:bodyPr wrap="square">
            <a:spAutoFit/>
          </a:bodyPr>
          <a:lstStyle/>
          <a:p>
            <a:r>
              <a:rPr sz="1300">
                <a:solidFill>
                  <a:srgbClr val="5C5A54"/>
                </a:solidFill>
              </a:rPr>
              <a:t>Successful engagements improve the daily operating system, not just the report. We fix processes first. That is how prior projects gained better data and stronger adoption.</a:t>
            </a:r>
          </a:p>
        </p:txBody>
      </p:sp>
      <p:sp>
        <p:nvSpPr>
          <p:cNvPr id="6" name="TextBox 5"/>
          <p:cNvSpPr txBox="1"/>
          <p:nvPr/>
        </p:nvSpPr>
        <p:spPr>
          <a:xfrm>
            <a:off x="640080" y="2606040"/>
            <a:ext cx="3261360" cy="3749039"/>
          </a:xfrm>
          <a:prstGeom prst="rect">
            <a:avLst/>
          </a:prstGeom>
          <a:noFill/>
        </p:spPr>
        <p:txBody>
          <a:bodyPr wrap="square">
            <a:spAutoFit/>
          </a:bodyPr>
          <a:lstStyle/>
          <a:p>
            <a:r>
              <a:rPr sz="1050" b="1">
                <a:solidFill>
                  <a:srgbClr val="D97757"/>
                </a:solidFill>
              </a:rPr>
              <a:t>SCALE WHAT ALREADY WORKS</a:t>
            </a:r>
          </a:p>
          <a:p>
            <a:pPr>
              <a:spcBef>
                <a:spcPts val="700"/>
              </a:spcBef>
            </a:pPr>
            <a:r>
              <a:rPr sz="1150">
                <a:solidFill>
                  <a:srgbClr val="1F1E1D"/>
                </a:solidFill>
              </a:rPr>
              <a:t>— Strong performers and clean processes are identified, protected and replicated.</a:t>
            </a:r>
          </a:p>
        </p:txBody>
      </p:sp>
      <p:sp>
        <p:nvSpPr>
          <p:cNvPr id="7" name="TextBox 6"/>
          <p:cNvSpPr txBox="1"/>
          <p:nvPr/>
        </p:nvSpPr>
        <p:spPr>
          <a:xfrm>
            <a:off x="4267200" y="2606040"/>
            <a:ext cx="3261360" cy="3749039"/>
          </a:xfrm>
          <a:prstGeom prst="rect">
            <a:avLst/>
          </a:prstGeom>
          <a:noFill/>
        </p:spPr>
        <p:txBody>
          <a:bodyPr wrap="square">
            <a:spAutoFit/>
          </a:bodyPr>
          <a:lstStyle/>
          <a:p>
            <a:r>
              <a:rPr sz="1050" b="1">
                <a:solidFill>
                  <a:srgbClr val="D97757"/>
                </a:solidFill>
              </a:rPr>
              <a:t>REMOVE LOW-VALUE WORK FIRST</a:t>
            </a:r>
          </a:p>
          <a:p>
            <a:pPr>
              <a:spcBef>
                <a:spcPts val="700"/>
              </a:spcBef>
            </a:pPr>
            <a:r>
              <a:rPr sz="1150">
                <a:solidFill>
                  <a:srgbClr val="1F1E1D"/>
                </a:solidFill>
              </a:rPr>
              <a:t>— Re-keying, chasing paper, access issues and repetitive follow-up are usually the first targets.</a:t>
            </a:r>
          </a:p>
        </p:txBody>
      </p:sp>
      <p:sp>
        <p:nvSpPr>
          <p:cNvPr id="8" name="TextBox 7"/>
          <p:cNvSpPr txBox="1"/>
          <p:nvPr/>
        </p:nvSpPr>
        <p:spPr>
          <a:xfrm>
            <a:off x="7894320" y="2606040"/>
            <a:ext cx="3261360" cy="3749039"/>
          </a:xfrm>
          <a:prstGeom prst="rect">
            <a:avLst/>
          </a:prstGeom>
          <a:noFill/>
        </p:spPr>
        <p:txBody>
          <a:bodyPr wrap="square">
            <a:spAutoFit/>
          </a:bodyPr>
          <a:lstStyle/>
          <a:p>
            <a:r>
              <a:rPr sz="1050" b="1">
                <a:solidFill>
                  <a:srgbClr val="D97757"/>
                </a:solidFill>
              </a:rPr>
              <a:t>AUTOMATION HANDLES ROUTINE VOLUME</a:t>
            </a:r>
          </a:p>
          <a:p>
            <a:pPr>
              <a:spcBef>
                <a:spcPts val="700"/>
              </a:spcBef>
            </a:pPr>
            <a:r>
              <a:rPr sz="1150">
                <a:solidFill>
                  <a:srgbClr val="1F1E1D"/>
                </a:solidFill>
              </a:rPr>
              <a:t>— People move to exceptions, judgment and higher-value work.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Make the work better across the whole operation. (cont.)</a:t>
            </a:r>
          </a:p>
        </p:txBody>
      </p:sp>
      <p:sp>
        <p:nvSpPr>
          <p:cNvPr id="5" name="TextBox 4"/>
          <p:cNvSpPr txBox="1"/>
          <p:nvPr/>
        </p:nvSpPr>
        <p:spPr>
          <a:xfrm>
            <a:off x="640080" y="1783080"/>
            <a:ext cx="10607040" cy="4206240"/>
          </a:xfrm>
          <a:prstGeom prst="rect">
            <a:avLst/>
          </a:prstGeom>
          <a:noFill/>
        </p:spPr>
        <p:txBody>
          <a:bodyPr wrap="square">
            <a:spAutoFit/>
          </a:bodyPr>
          <a:lstStyle/>
          <a:p>
            <a:r>
              <a:rPr sz="1050" b="1">
                <a:solidFill>
                  <a:srgbClr val="D97757"/>
                </a:solidFill>
              </a:rPr>
              <a:t>ALIGN INCENTIVES</a:t>
            </a:r>
          </a:p>
          <a:p>
            <a:pPr>
              <a:spcBef>
                <a:spcPts val="800"/>
              </a:spcBef>
            </a:pPr>
            <a:r>
              <a:rPr sz="1200">
                <a:solidFill>
                  <a:srgbClr val="1F1E1D"/>
                </a:solidFill>
              </a:rPr>
              <a:t>— Reward the behaviors that produce clean finance, clean handoffs and clean operations.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Before fieldwork, we document what we expect to find.</a:t>
            </a:r>
          </a:p>
        </p:txBody>
      </p:sp>
      <p:sp>
        <p:nvSpPr>
          <p:cNvPr id="5" name="TextBox 4"/>
          <p:cNvSpPr txBox="1"/>
          <p:nvPr/>
        </p:nvSpPr>
        <p:spPr>
          <a:xfrm>
            <a:off x="640080" y="1719072"/>
            <a:ext cx="10607040" cy="868680"/>
          </a:xfrm>
          <a:prstGeom prst="rect">
            <a:avLst/>
          </a:prstGeom>
          <a:noFill/>
        </p:spPr>
        <p:txBody>
          <a:bodyPr wrap="square">
            <a:spAutoFit/>
          </a:bodyPr>
          <a:lstStyle/>
          <a:p>
            <a:r>
              <a:rPr sz="1300">
                <a:solidFill>
                  <a:srgbClr val="5C5A54"/>
                </a:solidFill>
              </a:rPr>
              <a:t>Three dated predictions, including one thing we expect is already working well. Repeatable work should be measurable.</a:t>
            </a:r>
          </a:p>
        </p:txBody>
      </p:sp>
      <p:sp>
        <p:nvSpPr>
          <p:cNvPr id="6" name="TextBox 5"/>
          <p:cNvSpPr txBox="1"/>
          <p:nvPr/>
        </p:nvSpPr>
        <p:spPr>
          <a:xfrm>
            <a:off x="640080" y="2606040"/>
            <a:ext cx="3261360" cy="3749039"/>
          </a:xfrm>
          <a:prstGeom prst="rect">
            <a:avLst/>
          </a:prstGeom>
          <a:noFill/>
        </p:spPr>
        <p:txBody>
          <a:bodyPr wrap="square">
            <a:spAutoFit/>
          </a:bodyPr>
          <a:lstStyle/>
          <a:p>
            <a:r>
              <a:rPr sz="1050" b="1">
                <a:solidFill>
                  <a:srgbClr val="D97757"/>
                </a:solidFill>
              </a:rPr>
              <a:t>IF WE ARE RIGHT</a:t>
            </a:r>
          </a:p>
          <a:p>
            <a:pPr>
              <a:spcBef>
                <a:spcPts val="700"/>
              </a:spcBef>
            </a:pPr>
            <a:r>
              <a:rPr sz="1150">
                <a:solidFill>
                  <a:srgbClr val="1F1E1D"/>
                </a:solidFill>
              </a:rPr>
              <a:t>— It shows the diagnosis came from experience, not hindsight.</a:t>
            </a:r>
          </a:p>
        </p:txBody>
      </p:sp>
      <p:sp>
        <p:nvSpPr>
          <p:cNvPr id="7" name="TextBox 6"/>
          <p:cNvSpPr txBox="1"/>
          <p:nvPr/>
        </p:nvSpPr>
        <p:spPr>
          <a:xfrm>
            <a:off x="4267200" y="2606040"/>
            <a:ext cx="3261360" cy="3749039"/>
          </a:xfrm>
          <a:prstGeom prst="rect">
            <a:avLst/>
          </a:prstGeom>
          <a:noFill/>
        </p:spPr>
        <p:txBody>
          <a:bodyPr wrap="square">
            <a:spAutoFit/>
          </a:bodyPr>
          <a:lstStyle/>
          <a:p>
            <a:r>
              <a:rPr sz="1050" b="1">
                <a:solidFill>
                  <a:srgbClr val="D97757"/>
                </a:solidFill>
              </a:rPr>
              <a:t>IF WE ARE WRONG</a:t>
            </a:r>
          </a:p>
          <a:p>
            <a:pPr>
              <a:spcBef>
                <a:spcPts val="700"/>
              </a:spcBef>
            </a:pPr>
            <a:r>
              <a:rPr sz="1150">
                <a:solidFill>
                  <a:srgbClr val="1F1E1D"/>
                </a:solidFill>
              </a:rPr>
              <a:t>— The miss is documented too. The method stays testable.</a:t>
            </a:r>
          </a:p>
        </p:txBody>
      </p:sp>
      <p:sp>
        <p:nvSpPr>
          <p:cNvPr id="8" name="TextBox 7"/>
          <p:cNvSpPr txBox="1"/>
          <p:nvPr/>
        </p:nvSpPr>
        <p:spPr>
          <a:xfrm>
            <a:off x="7894320" y="2606040"/>
            <a:ext cx="3261360" cy="3749039"/>
          </a:xfrm>
          <a:prstGeom prst="rect">
            <a:avLst/>
          </a:prstGeom>
          <a:noFill/>
        </p:spPr>
        <p:txBody>
          <a:bodyPr wrap="square">
            <a:spAutoFit/>
          </a:bodyPr>
          <a:lstStyle/>
          <a:p>
            <a:r>
              <a:rPr sz="1050" b="1">
                <a:solidFill>
                  <a:srgbClr val="D97757"/>
                </a:solidFill>
              </a:rPr>
              <a:t>WHY IT MATTERS</a:t>
            </a:r>
          </a:p>
          <a:p>
            <a:pPr>
              <a:spcBef>
                <a:spcPts val="700"/>
              </a:spcBef>
            </a:pPr>
            <a:r>
              <a:rPr sz="1150">
                <a:solidFill>
                  <a:srgbClr val="1F1E1D"/>
                </a:solidFill>
              </a:rPr>
              <a:t>— The work can be checked after the engagement.</a:t>
            </a:r>
          </a:p>
          <a:p>
            <a:pPr>
              <a:spcBef>
                <a:spcPts val="700"/>
              </a:spcBef>
            </a:pPr>
            <a:r>
              <a:rPr sz="1150">
                <a:solidFill>
                  <a:srgbClr val="1F1E1D"/>
                </a:solidFill>
              </a:rPr>
              <a:t>— You can test the method before you buy the review. The predictions are written before fieldwork on every engagement, including the operating diagnostic — which is the cheapest way to find out whether our reading of your operation holds up, at a fraction of what a full review commits you to.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Proven across demanding client environments.</a:t>
            </a:r>
          </a:p>
        </p:txBody>
      </p:sp>
      <p:sp>
        <p:nvSpPr>
          <p:cNvPr id="5" name="TextBox 4"/>
          <p:cNvSpPr txBox="1"/>
          <p:nvPr/>
        </p:nvSpPr>
        <p:spPr>
          <a:xfrm>
            <a:off x="640080" y="1719072"/>
            <a:ext cx="10607040" cy="868680"/>
          </a:xfrm>
          <a:prstGeom prst="rect">
            <a:avLst/>
          </a:prstGeom>
          <a:noFill/>
        </p:spPr>
        <p:txBody>
          <a:bodyPr wrap="square">
            <a:spAutoFit/>
          </a:bodyPr>
          <a:lstStyle/>
          <a:p>
            <a:r>
              <a:rPr sz="1300">
                <a:solidFill>
                  <a:srgbClr val="5C5A54"/>
                </a:solidFill>
              </a:rPr>
              <a:t>The same operating and technical discipline has been applied in healthcare, life sciences, national laboratory, semiconductor equipment, enterprise technology, aerospace and automotive settings. Our advantage is not a single specialty. It is the ability to see operations, technology and risk together, in organizations where mistakes are expensive.</a:t>
            </a:r>
          </a:p>
        </p:txBody>
      </p:sp>
      <p:sp>
        <p:nvSpPr>
          <p:cNvPr id="6" name="TextBox 5"/>
          <p:cNvSpPr txBox="1"/>
          <p:nvPr/>
        </p:nvSpPr>
        <p:spPr>
          <a:xfrm>
            <a:off x="640080" y="2606040"/>
            <a:ext cx="3261360" cy="3749039"/>
          </a:xfrm>
          <a:prstGeom prst="rect">
            <a:avLst/>
          </a:prstGeom>
          <a:noFill/>
        </p:spPr>
        <p:txBody>
          <a:bodyPr wrap="square">
            <a:spAutoFit/>
          </a:bodyPr>
          <a:lstStyle/>
          <a:p>
            <a:r>
              <a:rPr sz="1050" b="1">
                <a:solidFill>
                  <a:srgbClr val="D97757"/>
                </a:solidFill>
              </a:rPr>
              <a:t>HEALTHCARE &amp; LIFE SCIENCES</a:t>
            </a:r>
          </a:p>
          <a:p>
            <a:pPr>
              <a:spcBef>
                <a:spcPts val="700"/>
              </a:spcBef>
            </a:pPr>
            <a:r>
              <a:rPr sz="1150">
                <a:solidFill>
                  <a:srgbClr val="1F1E1D"/>
                </a:solidFill>
              </a:rPr>
              <a:t>— Novartis Pharmaceuticals</a:t>
            </a:r>
          </a:p>
          <a:p>
            <a:pPr>
              <a:spcBef>
                <a:spcPts val="700"/>
              </a:spcBef>
            </a:pPr>
            <a:r>
              <a:rPr sz="1150">
                <a:solidFill>
                  <a:srgbClr val="1F1E1D"/>
                </a:solidFill>
              </a:rPr>
              <a:t>— AstraZeneca</a:t>
            </a:r>
          </a:p>
          <a:p>
            <a:pPr>
              <a:spcBef>
                <a:spcPts val="700"/>
              </a:spcBef>
            </a:pPr>
            <a:r>
              <a:rPr sz="1150">
                <a:solidFill>
                  <a:srgbClr val="1F1E1D"/>
                </a:solidFill>
              </a:rPr>
              <a:t>— Roche Diagnostics</a:t>
            </a:r>
          </a:p>
          <a:p>
            <a:pPr>
              <a:spcBef>
                <a:spcPts val="700"/>
              </a:spcBef>
            </a:pPr>
            <a:r>
              <a:rPr sz="1150">
                <a:solidFill>
                  <a:srgbClr val="1F1E1D"/>
                </a:solidFill>
              </a:rPr>
              <a:t>— Weill Cornell Medicine</a:t>
            </a:r>
          </a:p>
          <a:p>
            <a:pPr>
              <a:spcBef>
                <a:spcPts val="700"/>
              </a:spcBef>
            </a:pPr>
            <a:r>
              <a:rPr sz="1150">
                <a:solidFill>
                  <a:srgbClr val="1F1E1D"/>
                </a:solidFill>
              </a:rPr>
              <a:t>— Albert Einstein College of Medicine</a:t>
            </a:r>
          </a:p>
          <a:p>
            <a:pPr>
              <a:spcBef>
                <a:spcPts val="700"/>
              </a:spcBef>
            </a:pPr>
            <a:r>
              <a:rPr sz="1150">
                <a:solidFill>
                  <a:srgbClr val="1F1E1D"/>
                </a:solidFill>
              </a:rPr>
              <a:t>— Memorial Sloan Kettering</a:t>
            </a:r>
          </a:p>
          <a:p>
            <a:pPr>
              <a:spcBef>
                <a:spcPts val="700"/>
              </a:spcBef>
            </a:pPr>
            <a:r>
              <a:rPr sz="1150">
                <a:solidFill>
                  <a:srgbClr val="1F1E1D"/>
                </a:solidFill>
              </a:rPr>
              <a:t>— Mount Sinai</a:t>
            </a:r>
          </a:p>
          <a:p>
            <a:pPr>
              <a:spcBef>
                <a:spcPts val="700"/>
              </a:spcBef>
            </a:pPr>
            <a:r>
              <a:rPr sz="1150">
                <a:solidFill>
                  <a:srgbClr val="1F1E1D"/>
                </a:solidFill>
              </a:rPr>
              <a:t>— National Jewish Health</a:t>
            </a:r>
          </a:p>
          <a:p>
            <a:pPr>
              <a:spcBef>
                <a:spcPts val="700"/>
              </a:spcBef>
            </a:pPr>
            <a:r>
              <a:rPr sz="1150">
                <a:solidFill>
                  <a:srgbClr val="1F1E1D"/>
                </a:solidFill>
              </a:rPr>
              <a:t>— Acupath Laboratories</a:t>
            </a:r>
          </a:p>
        </p:txBody>
      </p:sp>
      <p:sp>
        <p:nvSpPr>
          <p:cNvPr id="7" name="TextBox 6"/>
          <p:cNvSpPr txBox="1"/>
          <p:nvPr/>
        </p:nvSpPr>
        <p:spPr>
          <a:xfrm>
            <a:off x="4267200" y="2606040"/>
            <a:ext cx="3261360" cy="3749039"/>
          </a:xfrm>
          <a:prstGeom prst="rect">
            <a:avLst/>
          </a:prstGeom>
          <a:noFill/>
        </p:spPr>
        <p:txBody>
          <a:bodyPr wrap="square">
            <a:spAutoFit/>
          </a:bodyPr>
          <a:lstStyle/>
          <a:p>
            <a:r>
              <a:rPr sz="1050" b="1">
                <a:solidFill>
                  <a:srgbClr val="D97757"/>
                </a:solidFill>
              </a:rPr>
              <a:t>INDUSTRIAL &amp; TECHNOLOGY</a:t>
            </a:r>
          </a:p>
          <a:p>
            <a:pPr>
              <a:spcBef>
                <a:spcPts val="700"/>
              </a:spcBef>
            </a:pPr>
            <a:r>
              <a:rPr sz="1150">
                <a:solidFill>
                  <a:srgbClr val="1F1E1D"/>
                </a:solidFill>
              </a:rPr>
              <a:t>— Brookhaven National Laboratory</a:t>
            </a:r>
          </a:p>
          <a:p>
            <a:pPr>
              <a:spcBef>
                <a:spcPts val="700"/>
              </a:spcBef>
            </a:pPr>
            <a:r>
              <a:rPr sz="1150">
                <a:solidFill>
                  <a:srgbClr val="1F1E1D"/>
                </a:solidFill>
              </a:rPr>
              <a:t>— ASML</a:t>
            </a:r>
          </a:p>
          <a:p>
            <a:pPr>
              <a:spcBef>
                <a:spcPts val="700"/>
              </a:spcBef>
            </a:pPr>
            <a:r>
              <a:rPr sz="1150">
                <a:solidFill>
                  <a:srgbClr val="1F1E1D"/>
                </a:solidFill>
              </a:rPr>
              <a:t>— Lam Research</a:t>
            </a:r>
          </a:p>
          <a:p>
            <a:pPr>
              <a:spcBef>
                <a:spcPts val="700"/>
              </a:spcBef>
            </a:pPr>
            <a:r>
              <a:rPr sz="1150">
                <a:solidFill>
                  <a:srgbClr val="1F1E1D"/>
                </a:solidFill>
              </a:rPr>
              <a:t>— Oracle</a:t>
            </a:r>
          </a:p>
          <a:p>
            <a:pPr>
              <a:spcBef>
                <a:spcPts val="700"/>
              </a:spcBef>
            </a:pPr>
            <a:r>
              <a:rPr sz="1150">
                <a:solidFill>
                  <a:srgbClr val="1F1E1D"/>
                </a:solidFill>
              </a:rPr>
              <a:t>— Boeing</a:t>
            </a:r>
          </a:p>
          <a:p>
            <a:pPr>
              <a:spcBef>
                <a:spcPts val="700"/>
              </a:spcBef>
            </a:pPr>
            <a:r>
              <a:rPr sz="1150">
                <a:solidFill>
                  <a:srgbClr val="1F1E1D"/>
                </a:solidFill>
              </a:rPr>
              <a:t>— Toyota USA</a:t>
            </a:r>
          </a:p>
        </p:txBody>
      </p:sp>
      <p:sp>
        <p:nvSpPr>
          <p:cNvPr id="8" name="TextBox 7"/>
          <p:cNvSpPr txBox="1"/>
          <p:nvPr/>
        </p:nvSpPr>
        <p:spPr>
          <a:xfrm>
            <a:off x="7894320" y="2606040"/>
            <a:ext cx="3261360" cy="3749039"/>
          </a:xfrm>
          <a:prstGeom prst="rect">
            <a:avLst/>
          </a:prstGeom>
          <a:noFill/>
        </p:spPr>
        <p:txBody>
          <a:bodyPr wrap="square">
            <a:spAutoFit/>
          </a:bodyPr>
          <a:lstStyle/>
          <a:p>
            <a:r>
              <a:rPr sz="1050" b="1">
                <a:solidFill>
                  <a:srgbClr val="D97757"/>
                </a:solidFill>
              </a:rPr>
              <a:t>WHAT THIS SIGNALS</a:t>
            </a:r>
          </a:p>
          <a:p>
            <a:pPr>
              <a:spcBef>
                <a:spcPts val="700"/>
              </a:spcBef>
            </a:pPr>
            <a:r>
              <a:rPr sz="1150">
                <a:solidFill>
                  <a:srgbClr val="1F1E1D"/>
                </a:solidFill>
              </a:rPr>
              <a:t>— Regulated data environments</a:t>
            </a:r>
          </a:p>
          <a:p>
            <a:pPr>
              <a:spcBef>
                <a:spcPts val="700"/>
              </a:spcBef>
            </a:pPr>
            <a:r>
              <a:rPr sz="1150">
                <a:solidFill>
                  <a:srgbClr val="1F1E1D"/>
                </a:solidFill>
              </a:rPr>
              <a:t>— Complex operations</a:t>
            </a:r>
          </a:p>
          <a:p>
            <a:pPr>
              <a:spcBef>
                <a:spcPts val="700"/>
              </a:spcBef>
            </a:pPr>
            <a:r>
              <a:rPr sz="1150">
                <a:solidFill>
                  <a:srgbClr val="1F1E1D"/>
                </a:solidFill>
              </a:rPr>
              <a:t>— High-trust executive stakeholders</a:t>
            </a:r>
          </a:p>
          <a:p>
            <a:pPr>
              <a:spcBef>
                <a:spcPts val="700"/>
              </a:spcBef>
            </a:pPr>
            <a:r>
              <a:rPr sz="1150">
                <a:solidFill>
                  <a:srgbClr val="1F1E1D"/>
                </a:solidFill>
              </a:rPr>
              <a:t>— Clinical, scientific, semiconductor and industrial workflows</a:t>
            </a:r>
          </a:p>
          <a:p>
            <a:pPr>
              <a:spcBef>
                <a:spcPts val="700"/>
              </a:spcBef>
            </a:pPr>
            <a:r>
              <a:rPr sz="1150">
                <a:solidFill>
                  <a:srgbClr val="1F1E1D"/>
                </a:solidFill>
              </a:rPr>
              <a:t>— Work that must hold up under scrutiny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The rules we use on every engagement.</a:t>
            </a:r>
          </a:p>
        </p:txBody>
      </p:sp>
      <p:sp>
        <p:nvSpPr>
          <p:cNvPr id="5" name="TextBox 4"/>
          <p:cNvSpPr txBox="1"/>
          <p:nvPr/>
        </p:nvSpPr>
        <p:spPr>
          <a:xfrm>
            <a:off x="640080" y="1719072"/>
            <a:ext cx="10607040" cy="868680"/>
          </a:xfrm>
          <a:prstGeom prst="rect">
            <a:avLst/>
          </a:prstGeom>
          <a:noFill/>
        </p:spPr>
        <p:txBody>
          <a:bodyPr wrap="square">
            <a:spAutoFit/>
          </a:bodyPr>
          <a:lstStyle/>
          <a:p>
            <a:r>
              <a:rPr sz="1300">
                <a:solidFill>
                  <a:srgbClr val="5C5A54"/>
                </a:solidFill>
              </a:rPr>
              <a:t>The client is the only party paying us. Our conclusion has no second sponsor.</a:t>
            </a:r>
          </a:p>
        </p:txBody>
      </p:sp>
      <p:sp>
        <p:nvSpPr>
          <p:cNvPr id="6" name="TextBox 5"/>
          <p:cNvSpPr txBox="1"/>
          <p:nvPr/>
        </p:nvSpPr>
        <p:spPr>
          <a:xfrm>
            <a:off x="640080" y="2606040"/>
            <a:ext cx="5074920" cy="3749039"/>
          </a:xfrm>
          <a:prstGeom prst="rect">
            <a:avLst/>
          </a:prstGeom>
          <a:noFill/>
        </p:spPr>
        <p:txBody>
          <a:bodyPr wrap="square">
            <a:spAutoFit/>
          </a:bodyPr>
          <a:lstStyle/>
          <a:p>
            <a:r>
              <a:rPr sz="1050" b="1">
                <a:solidFill>
                  <a:srgbClr val="D97757"/>
                </a:solidFill>
              </a:rPr>
              <a:t>WE WILL</a:t>
            </a:r>
          </a:p>
          <a:p>
            <a:pPr>
              <a:spcBef>
                <a:spcPts val="700"/>
              </a:spcBef>
            </a:pPr>
            <a:r>
              <a:rPr sz="1150">
                <a:solidFill>
                  <a:srgbClr val="1F1E1D"/>
                </a:solidFill>
              </a:rPr>
              <a:t>— Price phase one before discussing phase two</a:t>
            </a:r>
          </a:p>
          <a:p>
            <a:pPr>
              <a:spcBef>
                <a:spcPts val="700"/>
              </a:spcBef>
            </a:pPr>
            <a:r>
              <a:rPr sz="1150">
                <a:solidFill>
                  <a:srgbClr val="1F1E1D"/>
                </a:solidFill>
              </a:rPr>
              <a:t>— Say when someone else should fix a finding</a:t>
            </a:r>
          </a:p>
          <a:p>
            <a:pPr>
              <a:spcBef>
                <a:spcPts val="700"/>
              </a:spcBef>
            </a:pPr>
            <a:r>
              <a:rPr sz="1150">
                <a:solidFill>
                  <a:srgbClr val="1F1E1D"/>
                </a:solidFill>
              </a:rPr>
              <a:t>— Review under NDA</a:t>
            </a:r>
          </a:p>
          <a:p>
            <a:pPr>
              <a:spcBef>
                <a:spcPts val="700"/>
              </a:spcBef>
            </a:pPr>
            <a:r>
              <a:rPr sz="1150">
                <a:solidFill>
                  <a:srgbClr val="1F1E1D"/>
                </a:solidFill>
              </a:rPr>
              <a:t>— Leave you every file, document and model</a:t>
            </a:r>
          </a:p>
        </p:txBody>
      </p:sp>
      <p:sp>
        <p:nvSpPr>
          <p:cNvPr id="7" name="TextBox 6"/>
          <p:cNvSpPr txBox="1"/>
          <p:nvPr/>
        </p:nvSpPr>
        <p:spPr>
          <a:xfrm>
            <a:off x="6080760" y="2606040"/>
            <a:ext cx="5074920" cy="3749039"/>
          </a:xfrm>
          <a:prstGeom prst="rect">
            <a:avLst/>
          </a:prstGeom>
          <a:noFill/>
        </p:spPr>
        <p:txBody>
          <a:bodyPr wrap="square">
            <a:spAutoFit/>
          </a:bodyPr>
          <a:lstStyle/>
          <a:p>
            <a:r>
              <a:rPr sz="1050" b="1">
                <a:solidFill>
                  <a:srgbClr val="D97757"/>
                </a:solidFill>
              </a:rPr>
              <a:t>WE WILL NOT</a:t>
            </a:r>
          </a:p>
          <a:p>
            <a:pPr>
              <a:spcBef>
                <a:spcPts val="700"/>
              </a:spcBef>
            </a:pPr>
            <a:r>
              <a:rPr sz="1150">
                <a:solidFill>
                  <a:srgbClr val="1F1E1D"/>
                </a:solidFill>
              </a:rPr>
              <a:t>— Take vendor commissions or referral fees</a:t>
            </a:r>
          </a:p>
          <a:p>
            <a:pPr>
              <a:spcBef>
                <a:spcPts val="700"/>
              </a:spcBef>
            </a:pPr>
            <a:r>
              <a:rPr sz="1150">
                <a:solidFill>
                  <a:srgbClr val="1F1E1D"/>
                </a:solidFill>
              </a:rPr>
              <a:t>— Resell software we are paid to place</a:t>
            </a:r>
          </a:p>
          <a:p>
            <a:pPr>
              <a:spcBef>
                <a:spcPts val="700"/>
              </a:spcBef>
            </a:pPr>
            <a:r>
              <a:rPr sz="1150">
                <a:solidFill>
                  <a:srgbClr val="1F1E1D"/>
                </a:solidFill>
              </a:rPr>
              <a:t>— Inflate findings to sell phase two</a:t>
            </a:r>
          </a:p>
          <a:p>
            <a:pPr>
              <a:spcBef>
                <a:spcPts val="700"/>
              </a:spcBef>
            </a:pPr>
            <a:r>
              <a:rPr sz="1150">
                <a:solidFill>
                  <a:srgbClr val="1F1E1D"/>
                </a:solidFill>
              </a:rPr>
              <a:t>— Interrupt customers, front-line staff or revenue work</a:t>
            </a:r>
          </a:p>
          <a:p>
            <a:pPr>
              <a:spcBef>
                <a:spcPts val="700"/>
              </a:spcBef>
            </a:pPr>
            <a:r>
              <a:rPr sz="1150">
                <a:solidFill>
                  <a:srgbClr val="1F1E1D"/>
                </a:solidFill>
              </a:rPr>
              <a:t>— The commercial half of this is written down too. When an order becomes binding, what cancellation costs, who owns the deliverables and how regulated data is handled are all in the ordering terms . An order is an offer to purchase; it binds no one until we accept it in writing naming the scope, the fee and the start date.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We work backward from your next business deadline.</a:t>
            </a:r>
          </a:p>
        </p:txBody>
      </p:sp>
      <p:sp>
        <p:nvSpPr>
          <p:cNvPr id="5" name="TextBox 4"/>
          <p:cNvSpPr txBox="1"/>
          <p:nvPr/>
        </p:nvSpPr>
        <p:spPr>
          <a:xfrm>
            <a:off x="640080" y="1719072"/>
            <a:ext cx="10607040" cy="868680"/>
          </a:xfrm>
          <a:prstGeom prst="rect">
            <a:avLst/>
          </a:prstGeom>
          <a:noFill/>
        </p:spPr>
        <p:txBody>
          <a:bodyPr wrap="square">
            <a:spAutoFit/>
          </a:bodyPr>
          <a:lstStyle/>
          <a:p>
            <a:r>
              <a:rPr sz="1300">
                <a:solidFill>
                  <a:srgbClr val="5C5A54"/>
                </a:solidFill>
              </a:rPr>
              <a:t>Your next budget cycle, survey or renewal sets the date. The only decision today is the start date.</a:t>
            </a:r>
          </a:p>
        </p:txBody>
      </p:sp>
      <p:sp>
        <p:nvSpPr>
          <p:cNvPr id="6" name="TextBox 5"/>
          <p:cNvSpPr txBox="1"/>
          <p:nvPr/>
        </p:nvSpPr>
        <p:spPr>
          <a:xfrm>
            <a:off x="640080" y="2606040"/>
            <a:ext cx="3261360" cy="3749039"/>
          </a:xfrm>
          <a:prstGeom prst="rect">
            <a:avLst/>
          </a:prstGeom>
          <a:noFill/>
        </p:spPr>
        <p:txBody>
          <a:bodyPr wrap="square">
            <a:spAutoFit/>
          </a:bodyPr>
          <a:lstStyle/>
          <a:p>
            <a:r>
              <a:rPr sz="1050" b="1">
                <a:solidFill>
                  <a:srgbClr val="D97757"/>
                </a:solidFill>
              </a:rPr>
              <a:t>YOU NAME A START DATE</a:t>
            </a:r>
          </a:p>
          <a:p>
            <a:pPr>
              <a:spcBef>
                <a:spcPts val="700"/>
              </a:spcBef>
            </a:pPr>
            <a:r>
              <a:rPr sz="1150">
                <a:solidFill>
                  <a:srgbClr val="1F1E1D"/>
                </a:solidFill>
              </a:rPr>
              <a:t>— Choose the date. We handle the kickoff.</a:t>
            </a:r>
          </a:p>
        </p:txBody>
      </p:sp>
      <p:sp>
        <p:nvSpPr>
          <p:cNvPr id="7" name="TextBox 6"/>
          <p:cNvSpPr txBox="1"/>
          <p:nvPr/>
        </p:nvSpPr>
        <p:spPr>
          <a:xfrm>
            <a:off x="4267200" y="2606040"/>
            <a:ext cx="3261360" cy="3749039"/>
          </a:xfrm>
          <a:prstGeom prst="rect">
            <a:avLst/>
          </a:prstGeom>
          <a:noFill/>
        </p:spPr>
        <p:txBody>
          <a:bodyPr wrap="square">
            <a:spAutoFit/>
          </a:bodyPr>
          <a:lstStyle/>
          <a:p>
            <a:r>
              <a:rPr sz="1050" b="1">
                <a:solidFill>
                  <a:srgbClr val="D97757"/>
                </a:solidFill>
              </a:rPr>
              <a:t>FIELDWORK</a:t>
            </a:r>
          </a:p>
          <a:p>
            <a:pPr>
              <a:spcBef>
                <a:spcPts val="700"/>
              </a:spcBef>
            </a:pPr>
            <a:r>
              <a:rPr sz="1150">
                <a:solidFill>
                  <a:srgbClr val="1F1E1D"/>
                </a:solidFill>
              </a:rPr>
              <a:t>— We work around operations; staff keep working.</a:t>
            </a:r>
          </a:p>
        </p:txBody>
      </p:sp>
      <p:sp>
        <p:nvSpPr>
          <p:cNvPr id="8" name="TextBox 7"/>
          <p:cNvSpPr txBox="1"/>
          <p:nvPr/>
        </p:nvSpPr>
        <p:spPr>
          <a:xfrm>
            <a:off x="7894320" y="2606040"/>
            <a:ext cx="3261360" cy="3749039"/>
          </a:xfrm>
          <a:prstGeom prst="rect">
            <a:avLst/>
          </a:prstGeom>
          <a:noFill/>
        </p:spPr>
        <p:txBody>
          <a:bodyPr wrap="square">
            <a:spAutoFit/>
          </a:bodyPr>
          <a:lstStyle/>
          <a:p>
            <a:r>
              <a:rPr sz="1050" b="1">
                <a:solidFill>
                  <a:srgbClr val="D97757"/>
                </a:solidFill>
              </a:rPr>
              <a:t>FINDINGS PRESENTED</a:t>
            </a:r>
          </a:p>
          <a:p>
            <a:pPr>
              <a:spcBef>
                <a:spcPts val="700"/>
              </a:spcBef>
            </a:pPr>
            <a:r>
              <a:rPr sz="1150">
                <a:solidFill>
                  <a:srgbClr val="1F1E1D"/>
                </a:solidFill>
              </a:rPr>
              <a:t>— Findings are quantified. Phase two comes afterward.</a:t>
            </a:r>
          </a:p>
          <a:p>
            <a:pPr>
              <a:spcBef>
                <a:spcPts val="700"/>
              </a:spcBef>
            </a:pPr>
            <a:r>
              <a:rPr sz="1150">
                <a:solidFill>
                  <a:srgbClr val="1F1E1D"/>
                </a:solidFill>
              </a:rPr>
              <a:t>— If your procurement office moves before your calendar does, start there. Raise a purchase order against the engagement and we invoice on net 30 — the route most institutions are actually set up for, whether that is a health system, a university, a manufacturer, a local authority or a federal prime. Prices, deposits and the PO form are on the ordering page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pic>
        <p:nvPicPr>
          <p:cNvPr id="2" name="Picture 1" descr="logo-mark.png"/>
          <p:cNvPicPr>
            <a:picLocks noChangeAspect="1"/>
          </p:cNvPicPr>
          <p:nvPr/>
        </p:nvPicPr>
        <p:blipFill>
          <a:blip r:embed="rId2"/>
          <a:stretch>
            <a:fillRect/>
          </a:stretch>
        </p:blipFill>
        <p:spPr>
          <a:xfrm>
            <a:off x="11384280" y="384048"/>
            <a:ext cx="237744" cy="237744"/>
          </a:xfrm>
          <a:prstGeom prst="rect">
            <a:avLst/>
          </a:prstGeom>
        </p:spPr>
      </p:pic>
      <p:sp>
        <p:nvSpPr>
          <p:cNvPr id="3" name="Rectangle 2"/>
          <p:cNvSpPr/>
          <p:nvPr/>
        </p:nvSpPr>
        <p:spPr>
          <a:xfrm>
            <a:off x="640080" y="566928"/>
            <a:ext cx="777240" cy="177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77240"/>
            <a:ext cx="10424160" cy="914400"/>
          </a:xfrm>
          <a:prstGeom prst="rect">
            <a:avLst/>
          </a:prstGeom>
          <a:noFill/>
        </p:spPr>
        <p:txBody>
          <a:bodyPr wrap="square">
            <a:spAutoFit/>
          </a:bodyPr>
          <a:lstStyle/>
          <a:p>
            <a:r>
              <a:rPr sz="2700" b="1">
                <a:solidFill>
                  <a:srgbClr val="1F1E1D"/>
                </a:solidFill>
              </a:rPr>
              <a:t>The only decision today is the start date.</a:t>
            </a:r>
          </a:p>
        </p:txBody>
      </p:sp>
      <p:sp>
        <p:nvSpPr>
          <p:cNvPr id="5" name="TextBox 4"/>
          <p:cNvSpPr txBox="1"/>
          <p:nvPr/>
        </p:nvSpPr>
        <p:spPr>
          <a:xfrm>
            <a:off x="640080" y="1719072"/>
            <a:ext cx="10607040" cy="868680"/>
          </a:xfrm>
          <a:prstGeom prst="rect">
            <a:avLst/>
          </a:prstGeom>
          <a:noFill/>
        </p:spPr>
        <p:txBody>
          <a:bodyPr wrap="square">
            <a:spAutoFit/>
          </a:bodyPr>
          <a:lstStyle/>
          <a:p>
            <a:r>
              <a:rPr sz="1300">
                <a:solidFill>
                  <a:srgbClr val="5C5A54"/>
                </a:solidFill>
              </a:rPr>
              <a:t>Tell us what you run and what your next business deadline is — a budget cycle, a survey, a renewal. We work backward from it. Phase one is priced before phase two is discussed, the report is yours either way, and we take no vendor commissions or referral fees on anything we recommend.</a:t>
            </a:r>
          </a:p>
        </p:txBody>
      </p:sp>
      <p:sp>
        <p:nvSpPr>
          <p:cNvPr id="6" name="TextBox 5"/>
          <p:cNvSpPr txBox="1"/>
          <p:nvPr/>
        </p:nvSpPr>
        <p:spPr>
          <a:xfrm>
            <a:off x="640080" y="2606040"/>
            <a:ext cx="10607040" cy="3840480"/>
          </a:xfrm>
          <a:prstGeom prst="rect">
            <a:avLst/>
          </a:prstGeom>
          <a:noFill/>
        </p:spPr>
        <p:txBody>
          <a:bodyPr wrap="square">
            <a:spAutoFit/>
          </a:bodyPr>
          <a:lstStyle/>
          <a:p>
            <a:pPr>
              <a:spcBef>
                <a:spcPts val="1000"/>
              </a:spcBef>
            </a:pPr>
            <a:r>
              <a:rPr sz="1300">
                <a:solidFill>
                  <a:srgbClr val="1F1E1D"/>
                </a:solidFill>
              </a:rPr>
              <a:t>Take this with you. The same material as a deck or a document, for circulating internally.</a:t>
            </a:r>
          </a:p>
          <a:p>
            <a:pPr>
              <a:spcBef>
                <a:spcPts val="1000"/>
              </a:spcBef>
            </a:pPr>
            <a:r>
              <a:rPr sz="1300">
                <a:solidFill>
                  <a:srgbClr val="1F1E1D"/>
                </a:solidFill>
              </a:rPr>
              <a:t>Download the deck (PPTX) Download the document (DOCX)</a:t>
            </a:r>
          </a:p>
          <a:p>
            <a:pPr>
              <a:spcBef>
                <a:spcPts val="1000"/>
              </a:spcBef>
            </a:pPr>
            <a:r>
              <a:rPr sz="1300">
                <a:solidFill>
                  <a:srgbClr val="1F1E1D"/>
                </a:solidFill>
              </a:rPr>
              <a:t>Prefer to call? 516-269-1517</a:t>
            </a:r>
          </a:p>
          <a:p>
            <a:pPr>
              <a:spcBef>
                <a:spcPts val="1000"/>
              </a:spcBef>
            </a:pPr>
            <a:r>
              <a:rPr sz="1300">
                <a:solidFill>
                  <a:srgbClr val="1F1E1D"/>
                </a:solidFill>
              </a:rPr>
              <a:t>Already know what you want, or need a quotation your procurement office can raise a PO against? Commission it directly — prices, deposits and the purchase-order form are all there.</a:t>
            </a:r>
          </a:p>
          <a:p>
            <a:pPr>
              <a:spcBef>
                <a:spcPts val="1000"/>
              </a:spcBef>
            </a:pPr>
            <a:r>
              <a:rPr sz="1300">
                <a:solidFill>
                  <a:srgbClr val="1F1E1D"/>
                </a:solidFill>
              </a:rPr>
              <a:t>We use your details to respond to your inquiry. Your message is stored on our own infrastructure and delivered to us by email. We do not sell your details or operate a mailing list.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